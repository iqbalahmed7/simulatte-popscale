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POST-MORTEM · WEST BENGAL 2026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We staked </a:t>
            </a:r>
            <a:pPr indent="0" marL="0">
              <a:buNone/>
            </a:pPr>
            <a:r>
              <a:rPr lang="en-US" sz="48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TMC.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9659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Bengal voted otherwise.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3017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 INFRASTRUCTURE · 4 MAY 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498848"/>
            <a:ext cx="384048" cy="384048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48056" y="4581144"/>
            <a:ext cx="219456" cy="219456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4645152"/>
            <a:ext cx="91440" cy="91440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49884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Simulatte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— THE CALL VS THE RESULT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Every party landed outside the band.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TMC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94360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 ± 10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84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594360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999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-110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542032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42032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BJP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679192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679192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± 10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679192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679192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203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2679192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+158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4626864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26864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+ CONG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64024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64024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± 10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764024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764024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6</a:t>
            </a:r>
            <a:endParaRPr lang="en-US" sz="4400" dirty="0"/>
          </a:p>
        </p:txBody>
      </p:sp>
      <p:sp>
        <p:nvSpPr>
          <p:cNvPr id="30" name="Text 28"/>
          <p:cNvSpPr/>
          <p:nvPr/>
        </p:nvSpPr>
        <p:spPr>
          <a:xfrm>
            <a:off x="4764024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999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-44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711696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11696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848856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848856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± 3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48856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848856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endParaRPr lang="en-US" sz="4400" dirty="0"/>
          </a:p>
        </p:txBody>
      </p:sp>
      <p:sp>
        <p:nvSpPr>
          <p:cNvPr id="37" name="Text 35"/>
          <p:cNvSpPr/>
          <p:nvPr/>
        </p:nvSpPr>
        <p:spPr>
          <a:xfrm>
            <a:off x="6848856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999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-4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457200" y="37307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voteshare 45.1% (modelled ~22%) · TMC 41.0% (modelled ~52%)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— 294 ASSEMBLY SEATS  |  PREDICTED WINNER  |  WEST BENGAL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50292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TMC holds the</a:t>
            </a:r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</a:t>
            </a:r>
            <a:pPr indent="0" marL="0">
              <a:buNone/>
            </a:pPr>
            <a:pPr indent="0" marL="0">
              <a:buNone/>
            </a:pPr>
            <a:r>
              <a:rPr lang="en-US" sz="36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map.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65760" y="109728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 DISTRIBUTION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29844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294  /  TMC 194</a:t>
            </a:r>
            <a:endParaRPr lang="en-US" sz="2200" dirty="0"/>
          </a:p>
        </p:txBody>
      </p:sp>
      <p:pic>
        <p:nvPicPr>
          <p:cNvPr id="11" name="Image 0" descr="/Users/admin/Documents/Simulatte Projects/PopScale/engineering/maps/wb_predicted_hemicyc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645920"/>
            <a:ext cx="2560320" cy="14173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65760" y="310896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294 SEATS  ·  148 = MAJORITY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365760" y="3429000"/>
            <a:ext cx="146304" cy="146304"/>
          </a:xfrm>
          <a:prstGeom prst="rect">
            <a:avLst/>
          </a:prstGeom>
          <a:solidFill>
            <a:srgbClr val="3FA34D"/>
          </a:solidFill>
          <a:ln w="12700">
            <a:solidFill>
              <a:srgbClr val="3FA34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5216" y="33832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TMC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828800" y="33832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194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65760" y="3721608"/>
            <a:ext cx="146304" cy="146304"/>
          </a:xfrm>
          <a:prstGeom prst="rect">
            <a:avLst/>
          </a:prstGeom>
          <a:solidFill>
            <a:srgbClr val="F4A02C"/>
          </a:solidFill>
          <a:ln w="12700">
            <a:solidFill>
              <a:srgbClr val="F4A02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5216" y="367588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BJP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828800" y="36758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45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365760" y="4014216"/>
            <a:ext cx="146304" cy="146304"/>
          </a:xfrm>
          <a:prstGeom prst="rect">
            <a:avLst/>
          </a:prstGeom>
          <a:solidFill>
            <a:srgbClr val="C44545"/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85216" y="396849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INDI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828800" y="39684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50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365760" y="4306824"/>
            <a:ext cx="146304" cy="146304"/>
          </a:xfrm>
          <a:prstGeom prst="rect">
            <a:avLst/>
          </a:prstGeom>
          <a:solidFill>
            <a:srgbClr val="8A8A8A"/>
          </a:solidFill>
          <a:ln w="12700">
            <a:solidFill>
              <a:srgbClr val="8A8A8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85216" y="426110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OTH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828800" y="426110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108960" y="109728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WEST BENGAL · 294 ASSEMBLY CONSTITUENCIES</a:t>
            </a:r>
            <a:endParaRPr lang="en-US" sz="900" dirty="0"/>
          </a:p>
        </p:txBody>
      </p:sp>
      <p:pic>
        <p:nvPicPr>
          <p:cNvPr id="26" name="Image 1" descr="/Users/admin/Documents/Simulatte Projects/PopScale/engineering/maps/wb_predicted_per_a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08960" y="1280160"/>
            <a:ext cx="3840480" cy="3611880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132320" y="1097280"/>
            <a:ext cx="1737360" cy="1078992"/>
          </a:xfrm>
          <a:prstGeom prst="rect">
            <a:avLst/>
          </a:prstGeom>
          <a:solidFill>
            <a:srgbClr val="050505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7260336" y="118872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MAJORITY LINE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7260336" y="14173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148</a:t>
            </a:r>
            <a:endParaRPr lang="en-US" sz="3600" dirty="0"/>
          </a:p>
        </p:txBody>
      </p:sp>
      <p:sp>
        <p:nvSpPr>
          <p:cNvPr id="30" name="Shape 26"/>
          <p:cNvSpPr/>
          <p:nvPr/>
        </p:nvSpPr>
        <p:spPr>
          <a:xfrm>
            <a:off x="7132320" y="2331720"/>
            <a:ext cx="1737360" cy="1078992"/>
          </a:xfrm>
          <a:prstGeom prst="rect">
            <a:avLst/>
          </a:prstGeom>
          <a:solidFill>
            <a:srgbClr val="050505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132320" y="2331720"/>
            <a:ext cx="54864" cy="1078992"/>
          </a:xfrm>
          <a:prstGeom prst="rect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7296912" y="242316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TMC MARGIN</a:t>
            </a:r>
            <a:endParaRPr lang="en-US" sz="800" dirty="0"/>
          </a:p>
        </p:txBody>
      </p:sp>
      <p:sp>
        <p:nvSpPr>
          <p:cNvPr id="33" name="Text 29"/>
          <p:cNvSpPr/>
          <p:nvPr/>
        </p:nvSpPr>
        <p:spPr>
          <a:xfrm>
            <a:off x="7296912" y="2651760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+47</a:t>
            </a:r>
            <a:endParaRPr lang="en-US" sz="3600" dirty="0"/>
          </a:p>
        </p:txBody>
      </p:sp>
      <p:sp>
        <p:nvSpPr>
          <p:cNvPr id="34" name="Shape 30"/>
          <p:cNvSpPr/>
          <p:nvPr/>
        </p:nvSpPr>
        <p:spPr>
          <a:xfrm>
            <a:off x="7132320" y="3566160"/>
            <a:ext cx="1737360" cy="1078992"/>
          </a:xfrm>
          <a:prstGeom prst="rect">
            <a:avLst/>
          </a:prstGeom>
          <a:solidFill>
            <a:srgbClr val="050505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260336" y="365760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TMC SEATS / 294</a:t>
            </a:r>
            <a:endParaRPr lang="en-US" sz="800" dirty="0"/>
          </a:p>
        </p:txBody>
      </p:sp>
      <p:sp>
        <p:nvSpPr>
          <p:cNvPr id="36" name="Text 32"/>
          <p:cNvSpPr/>
          <p:nvPr/>
        </p:nvSpPr>
        <p:spPr>
          <a:xfrm>
            <a:off x="7260336" y="38862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194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— 294 ASSEMBLY SEATS  |  ACTUAL WINNER  |  WEST BENGAL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50292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BJP holds the</a:t>
            </a:r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</a:t>
            </a:r>
            <a:pPr indent="0" marL="0">
              <a:buNone/>
            </a:pPr>
            <a:pPr indent="0" marL="0">
              <a:buNone/>
            </a:pPr>
            <a:r>
              <a:rPr lang="en-US" sz="36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map.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65760" y="109728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 DISTRIBUTION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29844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294  /  BJP 203</a:t>
            </a:r>
            <a:endParaRPr lang="en-US" sz="2200" dirty="0"/>
          </a:p>
        </p:txBody>
      </p:sp>
      <p:pic>
        <p:nvPicPr>
          <p:cNvPr id="11" name="Image 0" descr="/Users/admin/Documents/Simulatte Projects/PopScale/engineering/maps/wb_actual_hemicyc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645920"/>
            <a:ext cx="2560320" cy="14173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65760" y="310896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294 SEATS  ·  148 = MAJORITY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365760" y="3429000"/>
            <a:ext cx="146304" cy="146304"/>
          </a:xfrm>
          <a:prstGeom prst="rect">
            <a:avLst/>
          </a:prstGeom>
          <a:solidFill>
            <a:srgbClr val="F4A02C"/>
          </a:solidFill>
          <a:ln w="12700">
            <a:solidFill>
              <a:srgbClr val="F4A02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5216" y="33832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BJP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828800" y="33832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203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65760" y="3721608"/>
            <a:ext cx="146304" cy="146304"/>
          </a:xfrm>
          <a:prstGeom prst="rect">
            <a:avLst/>
          </a:prstGeom>
          <a:solidFill>
            <a:srgbClr val="3FA34D"/>
          </a:solidFill>
          <a:ln w="12700">
            <a:solidFill>
              <a:srgbClr val="3FA34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5216" y="367588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TMC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828800" y="36758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84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365760" y="4014216"/>
            <a:ext cx="146304" cy="146304"/>
          </a:xfrm>
          <a:prstGeom prst="rect">
            <a:avLst/>
          </a:prstGeom>
          <a:solidFill>
            <a:srgbClr val="C44545"/>
          </a:solidFill>
          <a:ln w="12700">
            <a:solidFill>
              <a:srgbClr val="C4454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85216" y="396849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INDI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828800" y="39684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365760" y="4306824"/>
            <a:ext cx="146304" cy="146304"/>
          </a:xfrm>
          <a:prstGeom prst="rect">
            <a:avLst/>
          </a:prstGeom>
          <a:solidFill>
            <a:srgbClr val="8A8A8A"/>
          </a:solidFill>
          <a:ln w="12700">
            <a:solidFill>
              <a:srgbClr val="8A8A8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85216" y="426110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OTH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828800" y="426110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108960" y="109728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WEST BENGAL · 294 ASSEMBLY CONSTITUENCIES</a:t>
            </a:r>
            <a:endParaRPr lang="en-US" sz="900" dirty="0"/>
          </a:p>
        </p:txBody>
      </p:sp>
      <p:pic>
        <p:nvPicPr>
          <p:cNvPr id="26" name="Image 1" descr="/Users/admin/Documents/Simulatte Projects/PopScale/engineering/maps/wb_actual_per_a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08960" y="1280160"/>
            <a:ext cx="3840480" cy="3611880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132320" y="1097280"/>
            <a:ext cx="1737360" cy="1078992"/>
          </a:xfrm>
          <a:prstGeom prst="rect">
            <a:avLst/>
          </a:prstGeom>
          <a:solidFill>
            <a:srgbClr val="050505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7260336" y="118872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MAJORITY LINE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7260336" y="14173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148</a:t>
            </a:r>
            <a:endParaRPr lang="en-US" sz="3600" dirty="0"/>
          </a:p>
        </p:txBody>
      </p:sp>
      <p:sp>
        <p:nvSpPr>
          <p:cNvPr id="30" name="Shape 26"/>
          <p:cNvSpPr/>
          <p:nvPr/>
        </p:nvSpPr>
        <p:spPr>
          <a:xfrm>
            <a:off x="7132320" y="2331720"/>
            <a:ext cx="1737360" cy="1078992"/>
          </a:xfrm>
          <a:prstGeom prst="rect">
            <a:avLst/>
          </a:prstGeom>
          <a:solidFill>
            <a:srgbClr val="050505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132320" y="2331720"/>
            <a:ext cx="54864" cy="1078992"/>
          </a:xfrm>
          <a:prstGeom prst="rect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7296912" y="242316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BJP MARGIN</a:t>
            </a:r>
            <a:endParaRPr lang="en-US" sz="800" dirty="0"/>
          </a:p>
        </p:txBody>
      </p:sp>
      <p:sp>
        <p:nvSpPr>
          <p:cNvPr id="33" name="Text 29"/>
          <p:cNvSpPr/>
          <p:nvPr/>
        </p:nvSpPr>
        <p:spPr>
          <a:xfrm>
            <a:off x="7296912" y="2651760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+55</a:t>
            </a:r>
            <a:endParaRPr lang="en-US" sz="3600" dirty="0"/>
          </a:p>
        </p:txBody>
      </p:sp>
      <p:sp>
        <p:nvSpPr>
          <p:cNvPr id="34" name="Shape 30"/>
          <p:cNvSpPr/>
          <p:nvPr/>
        </p:nvSpPr>
        <p:spPr>
          <a:xfrm>
            <a:off x="7132320" y="3566160"/>
            <a:ext cx="1737360" cy="1078992"/>
          </a:xfrm>
          <a:prstGeom prst="rect">
            <a:avLst/>
          </a:prstGeom>
          <a:solidFill>
            <a:srgbClr val="050505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260336" y="365760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BJP SEATS / 294</a:t>
            </a:r>
            <a:endParaRPr lang="en-US" sz="800" dirty="0"/>
          </a:p>
        </p:txBody>
      </p:sp>
      <p:sp>
        <p:nvSpPr>
          <p:cNvPr id="36" name="Text 32"/>
          <p:cNvSpPr/>
          <p:nvPr/>
        </p:nvSpPr>
        <p:spPr>
          <a:xfrm>
            <a:off x="7260336" y="38862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203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01 OF 10 · MATUA BELT (NADIA · N24PGS)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Matua Belt (Nadia · N24Pgs):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matua_be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65%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30%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30%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60%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28 · BJP 12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33 · TMC 7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CAA swing.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Matua identification with BJP's CAA delivery, not the modelled backlash.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SEATS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02 OF 10 · PRESIDENCY SUBURBS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Presidency Suburbs: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presidency_suburb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52%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30%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36%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50%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28 · BJP 12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30 · TMC 10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Hindu consolidation.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BJP voteshare across heterogeneous suburbs.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SEATS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03 OF 10 · JUNGLE MAHAL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Jungle Mahal: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jungle_mah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58%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28%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32%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56%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38 · BJP 12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38 · TMC 12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BJP organisation.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anti-BJP correction did not stick; rural welfare delivery held.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SEATS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04 OF 10 · SOUTH RURAL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South Rural: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south_rur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55%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32%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35%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52%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25 · BJP 10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26 · TMC 9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Anti-incumbency.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Corruption cases (Sandeshkhali, recruitment scam) cut deepest here.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SEATS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05 OF 10 · KOLKATA URBAN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Kolkata Urban: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kolkata_urb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50%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28%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36%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48%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22 · BJP 10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20 · TMC 12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Muslim vote split.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4-way fragmentation handed BJP pluralities in Muslim-mixed seats.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SEATS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06 OF 10 · BURDWAN INDUSTRIAL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Burdwan Industrial: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burdwan_industri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53%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30%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35%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50%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17 · BJP 8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18 · TMC 7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worker swing.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anxiety + Hindu consolidation, not modelled together.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SEATS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07 OF 10 · NORTH BENGAL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North Bengal: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north_beng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48%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35%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28%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56%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14 · BJP 10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22 · TMC 2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voter-roll deletions.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Disproportionate impact in Muslim-majority blocks; turnout asymmetry.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SEATS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08 OF 10 · MURSHIDABAD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Murshidabad: TMC → TMC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murshidab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78%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12%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52%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38%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19 · BJP 3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TMC 13 · BJP 9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— but barely.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Muslim consolidation worked here as modelled. The model was right about this cluster.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SEATS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09 OF 10 · MALDA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Malda: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mal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56%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30%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38%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48%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7 · BJP 4 · INC 1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7 · TMC 4 · INC 1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Muslim split + INC weakness.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AIMIM/AJUP fragmentation handed BJP pluralities.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SEATS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10 OF 10 · DARJEELING HILLS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Darjeeling Hills: BJP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darjeeling_hill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22%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50%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20%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60%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BJP/GJM 10 · TMC 3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BJP/GJM 10 · TMC 2 · Oth 1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predicted.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BJP/GJM alliance worked as modelled.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SEATS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— STRUCTURAL FAILURE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Three things to fix in the model.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5544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Anchoring on 2021 baseline.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192024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Uniform-swing assumed corrections of 10-20pp; realised swing was 25-30pp.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2560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Hindu consolidation modelled as localized.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92608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shows it was the dominant statewide frame.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35661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weight too small.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393192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Modelled as marginal; reality showed structural turnout asymmetry across all Muslim-majority clusters.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We'll be back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for the next </a:t>
            </a:r>
            <a:pPr indent="0" marL="0">
              <a:buNone/>
            </a:pPr>
            <a:r>
              <a:rPr lang="en-US" sz="40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nail-biter.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32461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INDIA · 28 STATES · EVERY ELECTION ITS OWN PHYSICS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4498848"/>
            <a:ext cx="384048" cy="384048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8056" y="4581144"/>
            <a:ext cx="219456" cy="219456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12064" y="4645152"/>
            <a:ext cx="91440" cy="91440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49884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Simulatte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WB 2026 Post-Mortem v2</dc:title>
  <dc:subject>PptxGenJS Presentation</dc:subject>
  <dc:creator>PptxGenJS</dc:creator>
  <cp:lastModifiedBy>PptxGenJS</cp:lastModifiedBy>
  <cp:revision>1</cp:revision>
  <dcterms:created xsi:type="dcterms:W3CDTF">2026-05-04T17:34:34Z</dcterms:created>
  <dcterms:modified xsi:type="dcterms:W3CDTF">2026-05-04T17:34:34Z</dcterms:modified>
</cp:coreProperties>
</file>