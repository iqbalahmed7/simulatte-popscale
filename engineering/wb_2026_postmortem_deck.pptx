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POST-MORTEM · WEST BENGAL 2026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 staked </a:t>
            </a:r>
            <a:pPr indent="0" marL="0">
              <a:buNone/>
            </a:pPr>
            <a:r>
              <a:rPr lang="en-US" sz="4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TMC.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965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Bengal voted otherwise.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INFRASTRUCTURE · 4 MAY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THE CALL VS THE RESULT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Every party landed outside the band.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 ±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594360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−110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42032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BJP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79192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79192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± 10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79192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679192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203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2679192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+158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626864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6864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+ CONG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64024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64024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± 10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64024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64024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764024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−44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711696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11696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48856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48856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± 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48856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48856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4400" dirty="0"/>
          </a:p>
        </p:txBody>
      </p:sp>
      <p:sp>
        <p:nvSpPr>
          <p:cNvPr id="37" name="Text 35"/>
          <p:cNvSpPr/>
          <p:nvPr/>
        </p:nvSpPr>
        <p:spPr>
          <a:xfrm>
            <a:off x="6848856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−4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57200" y="37307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voteshare 45.1% (modelled ~22%) · TMC 41.0% (modelled ~52%)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THE PREDICTED MAP VS THE ACTUAL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Where we said TMC. Where TMC actually held.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63440" y="13716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591056"/>
            <a:ext cx="4023360" cy="1856232"/>
          </a:xfrm>
          <a:prstGeom prst="rect">
            <a:avLst/>
          </a:prstGeom>
          <a:ln w="9525">
            <a:solidFill>
              <a:srgbClr val="1A1A1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591056"/>
            <a:ext cx="4023360" cy="1856232"/>
          </a:xfrm>
          <a:prstGeom prst="rect">
            <a:avLst/>
          </a:prstGeom>
          <a:ln w="9525">
            <a:solidFill>
              <a:srgbClr val="1A1A1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0060" y="1650492"/>
            <a:ext cx="758952" cy="845820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6636" y="168706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Darjeeling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686300" y="1650492"/>
            <a:ext cx="758952" cy="845820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22876" y="168706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Darjeeling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284732" y="1650492"/>
            <a:ext cx="758952" cy="845820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21308" y="168706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North Bengal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5490972" y="1650492"/>
            <a:ext cx="758952" cy="845820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27548" y="168706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North Bengal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089404" y="1650492"/>
            <a:ext cx="758952" cy="845820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25980" y="168706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295644" y="1650492"/>
            <a:ext cx="758952" cy="845820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32220" y="168706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894076" y="1650492"/>
            <a:ext cx="758952" cy="845820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30652" y="168706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100316" y="1650492"/>
            <a:ext cx="758952" cy="845820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6892" y="168706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98748" y="1650492"/>
            <a:ext cx="758952" cy="845820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35324" y="168706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Matua/Nadia-N24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904988" y="1650492"/>
            <a:ext cx="758952" cy="845820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1564" y="168706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Matua/Nadia-N24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80060" y="2542032"/>
            <a:ext cx="758952" cy="845820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6636" y="257860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 Indl.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4686300" y="2542032"/>
            <a:ext cx="758952" cy="845820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22876" y="257860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 Indl.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1284732" y="2542032"/>
            <a:ext cx="758952" cy="845820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21308" y="257860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490972" y="2542032"/>
            <a:ext cx="758952" cy="845820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27548" y="257860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089404" y="2542032"/>
            <a:ext cx="758952" cy="845820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25980" y="257860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295644" y="2542032"/>
            <a:ext cx="758952" cy="845820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32220" y="257860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2894076" y="2542032"/>
            <a:ext cx="758952" cy="845820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30652" y="257860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 Sub.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100316" y="2542032"/>
            <a:ext cx="758952" cy="845820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6892" y="257860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 Sub.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3698748" y="2542032"/>
            <a:ext cx="758952" cy="845820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5324" y="257860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Kolkata Urban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7904988" y="2542032"/>
            <a:ext cx="758952" cy="845820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941564" y="2578608"/>
            <a:ext cx="6858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Kolkata Urban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57200" y="35478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Predicted: TMC majority · 194 ± 10 seats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663440" y="35478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BJP majority · 203 seats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— INPUTS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the model </a:t>
            </a:r>
            <a:pPr indent="0" marL="0">
              <a:buNone/>
            </a:pPr>
            <a:r>
              <a:rPr lang="en-US" sz="32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weighted.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508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5087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organisational depth in panchayats — the 2021 machine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07568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consolidation around TMC in Murshidabad — 90% TMC baseline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264261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2642616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CAA backlash hypothesis in the Matua belt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20954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209544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Jungle Mahal tribal anti-BJP sentiment from 2021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7764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377647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baseline anchoring — 213 TMC seats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— REALITY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actually decided the election.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508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508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consolidation as a statewide frame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32120" y="15087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voteshare 45.1% vs ~22% modelled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20756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voter-roll deletions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32120" y="2075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turnout asymmetry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64261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64261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Muslim vote fragmentation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32120" y="264261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/ AIMIM / AJUP / INDI — pluralities, not consolidation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20954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320954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Matua swing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532120" y="32095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with BJP’s CAA delivery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7764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377647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depth of anti-incumbency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32120" y="37764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unseen factor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WHAT THE MODEL SEES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Simulations are good at the </a:t>
            </a:r>
            <a:pPr indent="0" marL="0">
              <a:buNone/>
            </a:pPr>
            <a:r>
              <a:rPr lang="en-US" sz="40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visible.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unseen is where they lose.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Surveys, news cycles, panchayat data — none captured the depth of voter sentiment that decided the election.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STRUCTURAL FAILURE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Three things to fix in the model.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554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on 2021 baseline.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19202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Uniform-swing assumed corrections of 10–20pp; realised swing was 25–30pp.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2560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consolidation modelled as localized.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92608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shows it was the dominant statewide frame.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weight too small.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39319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as marginal; reality showed structural turnout asymmetry across all Muslim-majority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— WHAT CHANGES NEXT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priors update tomorrow.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08760"/>
            <a:ext cx="3931920" cy="109728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184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 TMC PRIOR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18745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−12pp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4663440" y="1508760"/>
            <a:ext cx="3931920" cy="109728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6184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 BELT TMC PRIOR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00600" y="18745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−18pp</a:t>
            </a:r>
            <a:endParaRPr lang="en-US" sz="440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931920" cy="109728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898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 TMC PRIOR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1546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−15pp</a:t>
            </a:r>
            <a:endParaRPr lang="en-US" sz="4400" dirty="0"/>
          </a:p>
        </p:txBody>
      </p:sp>
      <p:sp>
        <p:nvSpPr>
          <p:cNvPr id="19" name="Shape 17"/>
          <p:cNvSpPr/>
          <p:nvPr/>
        </p:nvSpPr>
        <p:spPr>
          <a:xfrm>
            <a:off x="4663440" y="2788920"/>
            <a:ext cx="3931920" cy="109728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898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BJP BASE ACROSS CLUSTERS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00600" y="31546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+15–25pp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BRIEF-021 calibration loop runs 5 May 09:07 IST. Adjustments computed per gentle 25% step rule. Next study uses corrected weights.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We’ll be back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for the next </a:t>
            </a:r>
            <a:pPr indent="0" marL="0">
              <a:buNone/>
            </a:pPr>
            <a:r>
              <a:rPr lang="en-US" sz="40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nail-biter.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INDIA · 28 STATES · EVERY ELECTION ITS OWN PHYSICS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WB 2026 Post-Mortem</dc:title>
  <dc:subject>PptxGenJS Presentation</dc:subject>
  <dc:creator>PptxGenJS</dc:creator>
  <cp:lastModifiedBy>PptxGenJS</cp:lastModifiedBy>
  <cp:revision>1</cp:revision>
  <dcterms:created xsi:type="dcterms:W3CDTF">2026-05-04T16:14:26Z</dcterms:created>
  <dcterms:modified xsi:type="dcterms:W3CDTF">2026-05-04T16:14:26Z</dcterms:modified>
</cp:coreProperties>
</file>