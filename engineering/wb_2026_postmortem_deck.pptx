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505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POST-MORTEM · WEST BENGAL 2026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We staked </a:t>
            </a:r>
            <a:pPr indent="0" marL="0">
              <a:buNone/>
            </a:pPr>
            <a:r>
              <a:rPr lang="en-US" sz="4800" b="1" dirty="0">
                <a:solidFill>
                  <a:srgbClr val="A8FF3E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TMC.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457200" y="196596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Bengal voted otherwise.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457200" y="301752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DECISION INFRASTRUCTURE · 4 MAY 2026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65760" y="4498848"/>
            <a:ext cx="384048" cy="384048"/>
          </a:xfrm>
          <a:prstGeom prst="ellipse">
            <a:avLst/>
          </a:prstGeom>
          <a:solidFill>
            <a:srgbClr val="050505"/>
          </a:solidFill>
          <a:ln w="19050">
            <a:solidFill>
              <a:srgbClr val="A8FF3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48056" y="4581144"/>
            <a:ext cx="219456" cy="219456"/>
          </a:xfrm>
          <a:prstGeom prst="ellipse">
            <a:avLst/>
          </a:prstGeom>
          <a:solidFill>
            <a:srgbClr val="050505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12064" y="4645152"/>
            <a:ext cx="91440" cy="91440"/>
          </a:xfrm>
          <a:prstGeom prst="ellipse">
            <a:avLst/>
          </a:prstGeom>
          <a:solidFill>
            <a:srgbClr val="A8FF3E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4498848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Simulatte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505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22208" y="128016"/>
            <a:ext cx="329184" cy="329184"/>
          </a:xfrm>
          <a:prstGeom prst="ellipse">
            <a:avLst/>
          </a:prstGeom>
          <a:solidFill>
            <a:srgbClr val="050505"/>
          </a:solidFill>
          <a:ln w="19050">
            <a:solidFill>
              <a:srgbClr val="A8FF3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95360" y="201168"/>
            <a:ext cx="182880" cy="182880"/>
          </a:xfrm>
          <a:prstGeom prst="ellipse">
            <a:avLst/>
          </a:prstGeom>
          <a:solidFill>
            <a:srgbClr val="050505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50224" y="256032"/>
            <a:ext cx="73152" cy="73152"/>
          </a:xfrm>
          <a:prstGeom prst="ellipse">
            <a:avLst/>
          </a:prstGeom>
          <a:solidFill>
            <a:srgbClr val="A8FF3E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86460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Simulatte / Confidential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046720" y="486460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201168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— THE CALL VS THE RESULT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566928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Every party landed outside the band.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57200" y="1280160"/>
            <a:ext cx="8229600" cy="0"/>
          </a:xfrm>
          <a:prstGeom prst="line">
            <a:avLst/>
          </a:prstGeom>
          <a:noFill/>
          <a:ln w="6350">
            <a:solidFill>
              <a:srgbClr val="9A999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1508760"/>
            <a:ext cx="1920240" cy="2103120"/>
          </a:xfrm>
          <a:prstGeom prst="rect">
            <a:avLst/>
          </a:prstGeom>
          <a:solidFill>
            <a:srgbClr val="050505"/>
          </a:solidFill>
          <a:ln w="9525">
            <a:solidFill>
              <a:srgbClr val="E9E6DF">
                <a:alpha val="2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1600200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20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TMC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94360" y="1892808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PREDICTED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594360" y="207568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194 ± 10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94360" y="242316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ACTUAL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594360" y="2587752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84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594360" y="320040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9A999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-110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2542032" y="1508760"/>
            <a:ext cx="1920240" cy="2103120"/>
          </a:xfrm>
          <a:prstGeom prst="rect">
            <a:avLst/>
          </a:prstGeom>
          <a:solidFill>
            <a:srgbClr val="050505"/>
          </a:solidFill>
          <a:ln w="9525">
            <a:solidFill>
              <a:srgbClr val="E9E6DF">
                <a:alpha val="2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542032" y="1600200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20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BJP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679192" y="1892808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PREDICTED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2679192" y="207568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± 10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2679192" y="242316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ACTUAL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2679192" y="2587752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203</a:t>
            </a:r>
            <a:endParaRPr lang="en-US" sz="4400" dirty="0"/>
          </a:p>
        </p:txBody>
      </p:sp>
      <p:sp>
        <p:nvSpPr>
          <p:cNvPr id="23" name="Text 21"/>
          <p:cNvSpPr/>
          <p:nvPr/>
        </p:nvSpPr>
        <p:spPr>
          <a:xfrm>
            <a:off x="2679192" y="320040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8FF3E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+158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4626864" y="1508760"/>
            <a:ext cx="1920240" cy="2103120"/>
          </a:xfrm>
          <a:prstGeom prst="rect">
            <a:avLst/>
          </a:prstGeom>
          <a:solidFill>
            <a:srgbClr val="050505"/>
          </a:solidFill>
          <a:ln w="9525">
            <a:solidFill>
              <a:srgbClr val="E9E6DF">
                <a:alpha val="2000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626864" y="1600200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20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LEFT + CONG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764024" y="1892808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PREDICTED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4764024" y="207568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± 10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4764024" y="242316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ACTUAL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4764024" y="2587752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6</a:t>
            </a:r>
            <a:endParaRPr lang="en-US" sz="4400" dirty="0"/>
          </a:p>
        </p:txBody>
      </p:sp>
      <p:sp>
        <p:nvSpPr>
          <p:cNvPr id="30" name="Text 28"/>
          <p:cNvSpPr/>
          <p:nvPr/>
        </p:nvSpPr>
        <p:spPr>
          <a:xfrm>
            <a:off x="4764024" y="320040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9A999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-44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6711696" y="1508760"/>
            <a:ext cx="1920240" cy="2103120"/>
          </a:xfrm>
          <a:prstGeom prst="rect">
            <a:avLst/>
          </a:prstGeom>
          <a:solidFill>
            <a:srgbClr val="050505"/>
          </a:solidFill>
          <a:ln w="9525">
            <a:solidFill>
              <a:srgbClr val="E9E6DF">
                <a:alpha val="20000"/>
              </a:srgbClr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711696" y="1600200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20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OTHERS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848856" y="1892808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PREDICTED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6848856" y="207568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± 3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6848856" y="242316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ACTUAL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6848856" y="2587752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1</a:t>
            </a:r>
            <a:endParaRPr lang="en-US" sz="4400" dirty="0"/>
          </a:p>
        </p:txBody>
      </p:sp>
      <p:sp>
        <p:nvSpPr>
          <p:cNvPr id="37" name="Text 35"/>
          <p:cNvSpPr/>
          <p:nvPr/>
        </p:nvSpPr>
        <p:spPr>
          <a:xfrm>
            <a:off x="6848856" y="320040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9A999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-4</a:t>
            </a:r>
            <a:endParaRPr lang="en-US" sz="1800" dirty="0"/>
          </a:p>
        </p:txBody>
      </p:sp>
      <p:sp>
        <p:nvSpPr>
          <p:cNvPr id="38" name="Text 36"/>
          <p:cNvSpPr/>
          <p:nvPr/>
        </p:nvSpPr>
        <p:spPr>
          <a:xfrm>
            <a:off x="457200" y="37307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BJP voteshare 45.1% (modelled ~22%) · TMC 41.0% (modelled ~52%)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505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22208" y="128016"/>
            <a:ext cx="329184" cy="329184"/>
          </a:xfrm>
          <a:prstGeom prst="ellipse">
            <a:avLst/>
          </a:prstGeom>
          <a:solidFill>
            <a:srgbClr val="050505"/>
          </a:solidFill>
          <a:ln w="19050">
            <a:solidFill>
              <a:srgbClr val="A8FF3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95360" y="201168"/>
            <a:ext cx="182880" cy="182880"/>
          </a:xfrm>
          <a:prstGeom prst="ellipse">
            <a:avLst/>
          </a:prstGeom>
          <a:solidFill>
            <a:srgbClr val="050505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50224" y="256032"/>
            <a:ext cx="73152" cy="73152"/>
          </a:xfrm>
          <a:prstGeom prst="ellipse">
            <a:avLst/>
          </a:prstGeom>
          <a:solidFill>
            <a:srgbClr val="A8FF3E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86460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Simulatte / Confidential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046720" y="486460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201168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— THE PREDICTED MAP VS THE ACTUAL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566928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Bengal predicted. Bengal voted.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65760" y="1188720"/>
            <a:ext cx="4023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PREDICTED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925373" y="1417320"/>
            <a:ext cx="559613" cy="310896"/>
          </a:xfrm>
          <a:prstGeom prst="rect">
            <a:avLst/>
          </a:prstGeom>
          <a:solidFill>
            <a:srgbClr val="050505"/>
          </a:solidFill>
          <a:ln w="6350">
            <a:solidFill>
              <a:srgbClr val="E9E6D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63194" y="1728216"/>
            <a:ext cx="683971" cy="373075"/>
          </a:xfrm>
          <a:prstGeom prst="rect">
            <a:avLst/>
          </a:prstGeom>
          <a:solidFill>
            <a:srgbClr val="E9E6DF"/>
          </a:solidFill>
          <a:ln w="6350">
            <a:solidFill>
              <a:srgbClr val="E9E6D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49731" y="2101291"/>
            <a:ext cx="559613" cy="248717"/>
          </a:xfrm>
          <a:prstGeom prst="rect">
            <a:avLst/>
          </a:prstGeom>
          <a:solidFill>
            <a:srgbClr val="E9E6DF"/>
          </a:solidFill>
          <a:ln w="6350">
            <a:solidFill>
              <a:srgbClr val="E9E6D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49731" y="2350008"/>
            <a:ext cx="559613" cy="248717"/>
          </a:xfrm>
          <a:prstGeom prst="rect">
            <a:avLst/>
          </a:prstGeom>
          <a:solidFill>
            <a:srgbClr val="E9E6DF"/>
          </a:solidFill>
          <a:ln w="6350">
            <a:solidFill>
              <a:srgbClr val="E9E6D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98448" y="2598725"/>
            <a:ext cx="683971" cy="373075"/>
          </a:xfrm>
          <a:prstGeom prst="rect">
            <a:avLst/>
          </a:prstGeom>
          <a:solidFill>
            <a:srgbClr val="E9E6DF"/>
          </a:solidFill>
          <a:ln w="6350">
            <a:solidFill>
              <a:srgbClr val="E9E6D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76656" y="2723083"/>
            <a:ext cx="621792" cy="497434"/>
          </a:xfrm>
          <a:prstGeom prst="rect">
            <a:avLst/>
          </a:prstGeom>
          <a:solidFill>
            <a:srgbClr val="E9E6DF"/>
          </a:solidFill>
          <a:ln w="6350">
            <a:solidFill>
              <a:srgbClr val="E9E6D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8835" y="3220517"/>
            <a:ext cx="559613" cy="186538"/>
          </a:xfrm>
          <a:prstGeom prst="rect">
            <a:avLst/>
          </a:prstGeom>
          <a:solidFill>
            <a:srgbClr val="E9E6DF"/>
          </a:solidFill>
          <a:ln w="6350">
            <a:solidFill>
              <a:srgbClr val="E9E6D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82419" y="2723083"/>
            <a:ext cx="621792" cy="559613"/>
          </a:xfrm>
          <a:prstGeom prst="rect">
            <a:avLst/>
          </a:prstGeom>
          <a:solidFill>
            <a:srgbClr val="E9E6DF"/>
          </a:solidFill>
          <a:ln w="6350">
            <a:solidFill>
              <a:srgbClr val="E9E6D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90118" y="3220517"/>
            <a:ext cx="932688" cy="559613"/>
          </a:xfrm>
          <a:prstGeom prst="rect">
            <a:avLst/>
          </a:prstGeom>
          <a:solidFill>
            <a:srgbClr val="E9E6DF"/>
          </a:solidFill>
          <a:ln w="6350">
            <a:solidFill>
              <a:srgbClr val="E9E6D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76656" y="3780130"/>
            <a:ext cx="559613" cy="186538"/>
          </a:xfrm>
          <a:prstGeom prst="rect">
            <a:avLst/>
          </a:prstGeom>
          <a:solidFill>
            <a:srgbClr val="E9E6DF"/>
          </a:solidFill>
          <a:ln w="6350">
            <a:solidFill>
              <a:srgbClr val="E9E6D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422806" y="2971800"/>
            <a:ext cx="559613" cy="435254"/>
          </a:xfrm>
          <a:prstGeom prst="rect">
            <a:avLst/>
          </a:prstGeom>
          <a:solidFill>
            <a:srgbClr val="E9E6DF"/>
          </a:solidFill>
          <a:ln w="6350">
            <a:solidFill>
              <a:srgbClr val="E9E6D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609344" y="3407054"/>
            <a:ext cx="435254" cy="186538"/>
          </a:xfrm>
          <a:prstGeom prst="rect">
            <a:avLst/>
          </a:prstGeom>
          <a:solidFill>
            <a:srgbClr val="E9E6DF"/>
          </a:solidFill>
          <a:ln w="6350">
            <a:solidFill>
              <a:srgbClr val="E9E6D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044598" y="3282696"/>
            <a:ext cx="310896" cy="310896"/>
          </a:xfrm>
          <a:prstGeom prst="rect">
            <a:avLst/>
          </a:prstGeom>
          <a:solidFill>
            <a:srgbClr val="E9E6DF"/>
          </a:solidFill>
          <a:ln w="6350">
            <a:solidFill>
              <a:srgbClr val="E9E6D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236269" y="3593592"/>
            <a:ext cx="1119226" cy="559613"/>
          </a:xfrm>
          <a:prstGeom prst="rect">
            <a:avLst/>
          </a:prstGeom>
          <a:solidFill>
            <a:srgbClr val="E9E6DF"/>
          </a:solidFill>
          <a:ln w="6350">
            <a:solidFill>
              <a:srgbClr val="E9E6D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30859" y="1517904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DARJ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1055218" y="1922069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N.BENGAL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1055218" y="2419502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MALDA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1366114" y="273039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MURSHIDABAD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713232" y="291693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BURDWAN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018995" y="294802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MATUA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651053" y="3445459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JUNGLE MAHAL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1428293" y="3134563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PRESIDENCY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1925726" y="3383280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KOL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1521562" y="3818534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SOUTH RURAL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365760" y="4617720"/>
            <a:ext cx="4023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Predicted: TMC majority across 9 clusters · 194 ± 10 seats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754880" y="1188720"/>
            <a:ext cx="4023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ACTUAL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314493" y="1417320"/>
            <a:ext cx="559613" cy="310896"/>
          </a:xfrm>
          <a:prstGeom prst="rect">
            <a:avLst/>
          </a:prstGeom>
          <a:solidFill>
            <a:srgbClr val="050505"/>
          </a:solidFill>
          <a:ln w="6350">
            <a:solidFill>
              <a:srgbClr val="E9E6D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252314" y="1728216"/>
            <a:ext cx="683971" cy="373075"/>
          </a:xfrm>
          <a:prstGeom prst="rect">
            <a:avLst/>
          </a:prstGeom>
          <a:solidFill>
            <a:srgbClr val="050505"/>
          </a:solidFill>
          <a:ln w="6350">
            <a:solidFill>
              <a:srgbClr val="E9E6D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38851" y="2101291"/>
            <a:ext cx="559613" cy="248717"/>
          </a:xfrm>
          <a:prstGeom prst="rect">
            <a:avLst/>
          </a:prstGeom>
          <a:solidFill>
            <a:srgbClr val="050505"/>
          </a:solidFill>
          <a:ln w="6350">
            <a:solidFill>
              <a:srgbClr val="E9E6D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38851" y="2350008"/>
            <a:ext cx="559613" cy="248717"/>
          </a:xfrm>
          <a:prstGeom prst="rect">
            <a:avLst/>
          </a:prstGeom>
          <a:solidFill>
            <a:srgbClr val="050505"/>
          </a:solidFill>
          <a:ln w="6350">
            <a:solidFill>
              <a:srgbClr val="E9E6D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687568" y="2598725"/>
            <a:ext cx="683971" cy="373075"/>
          </a:xfrm>
          <a:prstGeom prst="rect">
            <a:avLst/>
          </a:prstGeom>
          <a:solidFill>
            <a:srgbClr val="E9E6DF"/>
          </a:solidFill>
          <a:ln w="6350">
            <a:solidFill>
              <a:srgbClr val="E9E6D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065776" y="2723083"/>
            <a:ext cx="621792" cy="497434"/>
          </a:xfrm>
          <a:prstGeom prst="rect">
            <a:avLst/>
          </a:prstGeom>
          <a:solidFill>
            <a:srgbClr val="050505"/>
          </a:solidFill>
          <a:ln w="6350">
            <a:solidFill>
              <a:srgbClr val="E9E6D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127955" y="3220517"/>
            <a:ext cx="559613" cy="186538"/>
          </a:xfrm>
          <a:prstGeom prst="rect">
            <a:avLst/>
          </a:prstGeom>
          <a:solidFill>
            <a:srgbClr val="050505"/>
          </a:solidFill>
          <a:ln w="6350">
            <a:solidFill>
              <a:srgbClr val="E9E6DF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371539" y="2723083"/>
            <a:ext cx="621792" cy="559613"/>
          </a:xfrm>
          <a:prstGeom prst="rect">
            <a:avLst/>
          </a:prstGeom>
          <a:solidFill>
            <a:srgbClr val="050505"/>
          </a:solidFill>
          <a:ln w="6350">
            <a:solidFill>
              <a:srgbClr val="E9E6D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879238" y="3220517"/>
            <a:ext cx="932688" cy="559613"/>
          </a:xfrm>
          <a:prstGeom prst="rect">
            <a:avLst/>
          </a:prstGeom>
          <a:solidFill>
            <a:srgbClr val="050505"/>
          </a:solidFill>
          <a:ln w="6350">
            <a:solidFill>
              <a:srgbClr val="E9E6DF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065776" y="3780130"/>
            <a:ext cx="559613" cy="186538"/>
          </a:xfrm>
          <a:prstGeom prst="rect">
            <a:avLst/>
          </a:prstGeom>
          <a:solidFill>
            <a:srgbClr val="050505"/>
          </a:solidFill>
          <a:ln w="6350">
            <a:solidFill>
              <a:srgbClr val="E9E6D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811926" y="2971800"/>
            <a:ext cx="559613" cy="435254"/>
          </a:xfrm>
          <a:prstGeom prst="rect">
            <a:avLst/>
          </a:prstGeom>
          <a:solidFill>
            <a:srgbClr val="050505"/>
          </a:solidFill>
          <a:ln w="6350">
            <a:solidFill>
              <a:srgbClr val="E9E6D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998464" y="3407054"/>
            <a:ext cx="435254" cy="186538"/>
          </a:xfrm>
          <a:prstGeom prst="rect">
            <a:avLst/>
          </a:prstGeom>
          <a:solidFill>
            <a:srgbClr val="050505"/>
          </a:solidFill>
          <a:ln w="6350">
            <a:solidFill>
              <a:srgbClr val="E9E6D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433718" y="3282696"/>
            <a:ext cx="310896" cy="310896"/>
          </a:xfrm>
          <a:prstGeom prst="rect">
            <a:avLst/>
          </a:prstGeom>
          <a:solidFill>
            <a:srgbClr val="050505"/>
          </a:solidFill>
          <a:ln w="6350">
            <a:solidFill>
              <a:srgbClr val="E9E6D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625389" y="3593592"/>
            <a:ext cx="1119226" cy="559613"/>
          </a:xfrm>
          <a:prstGeom prst="rect">
            <a:avLst/>
          </a:prstGeom>
          <a:solidFill>
            <a:srgbClr val="050505"/>
          </a:solidFill>
          <a:ln w="6350">
            <a:solidFill>
              <a:srgbClr val="E9E6D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319979" y="1517904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DARJ</a:t>
            </a:r>
            <a:endParaRPr lang="en-US" sz="700" dirty="0"/>
          </a:p>
        </p:txBody>
      </p:sp>
      <p:sp>
        <p:nvSpPr>
          <p:cNvPr id="51" name="Text 49"/>
          <p:cNvSpPr/>
          <p:nvPr/>
        </p:nvSpPr>
        <p:spPr>
          <a:xfrm>
            <a:off x="5444338" y="1922069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N.BENGAL</a:t>
            </a:r>
            <a:endParaRPr lang="en-US" sz="700" dirty="0"/>
          </a:p>
        </p:txBody>
      </p:sp>
      <p:sp>
        <p:nvSpPr>
          <p:cNvPr id="52" name="Text 50"/>
          <p:cNvSpPr/>
          <p:nvPr/>
        </p:nvSpPr>
        <p:spPr>
          <a:xfrm>
            <a:off x="5444338" y="2419502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MALDA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5755234" y="273039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MURSHIDABAD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5102352" y="291693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BURDWAN</a:t>
            </a:r>
            <a:endParaRPr lang="en-US" sz="700" dirty="0"/>
          </a:p>
        </p:txBody>
      </p:sp>
      <p:sp>
        <p:nvSpPr>
          <p:cNvPr id="55" name="Text 53"/>
          <p:cNvSpPr/>
          <p:nvPr/>
        </p:nvSpPr>
        <p:spPr>
          <a:xfrm>
            <a:off x="6408115" y="294802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MATUA</a:t>
            </a:r>
            <a:endParaRPr lang="en-US" sz="700" dirty="0"/>
          </a:p>
        </p:txBody>
      </p:sp>
      <p:sp>
        <p:nvSpPr>
          <p:cNvPr id="56" name="Text 54"/>
          <p:cNvSpPr/>
          <p:nvPr/>
        </p:nvSpPr>
        <p:spPr>
          <a:xfrm>
            <a:off x="5040173" y="3445459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JUNGLE MAHAL</a:t>
            </a:r>
            <a:endParaRPr lang="en-US" sz="700" dirty="0"/>
          </a:p>
        </p:txBody>
      </p:sp>
      <p:sp>
        <p:nvSpPr>
          <p:cNvPr id="57" name="Text 55"/>
          <p:cNvSpPr/>
          <p:nvPr/>
        </p:nvSpPr>
        <p:spPr>
          <a:xfrm>
            <a:off x="5817413" y="3134563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PRESIDENCY</a:t>
            </a:r>
            <a:endParaRPr lang="en-US" sz="700" dirty="0"/>
          </a:p>
        </p:txBody>
      </p:sp>
      <p:sp>
        <p:nvSpPr>
          <p:cNvPr id="58" name="Text 56"/>
          <p:cNvSpPr/>
          <p:nvPr/>
        </p:nvSpPr>
        <p:spPr>
          <a:xfrm>
            <a:off x="6314846" y="3383280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KOL</a:t>
            </a:r>
            <a:endParaRPr lang="en-US" sz="700" dirty="0"/>
          </a:p>
        </p:txBody>
      </p:sp>
      <p:sp>
        <p:nvSpPr>
          <p:cNvPr id="59" name="Text 57"/>
          <p:cNvSpPr/>
          <p:nvPr/>
        </p:nvSpPr>
        <p:spPr>
          <a:xfrm>
            <a:off x="5910682" y="3818534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SOUTH RURAL</a:t>
            </a:r>
            <a:endParaRPr lang="en-US" sz="700" dirty="0"/>
          </a:p>
        </p:txBody>
      </p:sp>
      <p:sp>
        <p:nvSpPr>
          <p:cNvPr id="60" name="Text 58"/>
          <p:cNvSpPr/>
          <p:nvPr/>
        </p:nvSpPr>
        <p:spPr>
          <a:xfrm>
            <a:off x="4754880" y="4617720"/>
            <a:ext cx="4023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Actual: TMC held 1 cluster · 84 seats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505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22208" y="128016"/>
            <a:ext cx="329184" cy="329184"/>
          </a:xfrm>
          <a:prstGeom prst="ellipse">
            <a:avLst/>
          </a:prstGeom>
          <a:solidFill>
            <a:srgbClr val="050505"/>
          </a:solidFill>
          <a:ln w="19050">
            <a:solidFill>
              <a:srgbClr val="A8FF3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95360" y="201168"/>
            <a:ext cx="182880" cy="182880"/>
          </a:xfrm>
          <a:prstGeom prst="ellipse">
            <a:avLst/>
          </a:prstGeom>
          <a:solidFill>
            <a:srgbClr val="050505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50224" y="256032"/>
            <a:ext cx="73152" cy="73152"/>
          </a:xfrm>
          <a:prstGeom prst="ellipse">
            <a:avLst/>
          </a:prstGeom>
          <a:solidFill>
            <a:srgbClr val="A8FF3E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86460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Simulatte / Confidential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046720" y="486460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201168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ANALYSIS · 01 OF 10 · MATUA BELT (NADIA · N24PGS)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Matua Belt (Nadia · N24Pgs): TMC → BJP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457200" y="1298448"/>
            <a:ext cx="8229600" cy="0"/>
          </a:xfrm>
          <a:prstGeom prst="line">
            <a:avLst/>
          </a:prstGeom>
          <a:noFill/>
          <a:ln w="6350">
            <a:solidFill>
              <a:srgbClr val="9A999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41832" y="1508760"/>
            <a:ext cx="576072" cy="320040"/>
          </a:xfrm>
          <a:prstGeom prst="rect">
            <a:avLst/>
          </a:prstGeom>
          <a:solidFill>
            <a:srgbClr val="050505"/>
          </a:solidFill>
          <a:ln w="6350">
            <a:solidFill>
              <a:srgbClr val="3A3A3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77824" y="1828800"/>
            <a:ext cx="704088" cy="384048"/>
          </a:xfrm>
          <a:prstGeom prst="rect">
            <a:avLst/>
          </a:prstGeom>
          <a:solidFill>
            <a:srgbClr val="050505"/>
          </a:solidFill>
          <a:ln w="6350">
            <a:solidFill>
              <a:srgbClr val="3A3A3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69848" y="2212848"/>
            <a:ext cx="576072" cy="256032"/>
          </a:xfrm>
          <a:prstGeom prst="rect">
            <a:avLst/>
          </a:prstGeom>
          <a:solidFill>
            <a:srgbClr val="050505"/>
          </a:solidFill>
          <a:ln w="6350">
            <a:solidFill>
              <a:srgbClr val="3A3A3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69848" y="2468880"/>
            <a:ext cx="576072" cy="256032"/>
          </a:xfrm>
          <a:prstGeom prst="rect">
            <a:avLst/>
          </a:prstGeom>
          <a:solidFill>
            <a:srgbClr val="050505"/>
          </a:solidFill>
          <a:ln w="6350">
            <a:solidFill>
              <a:srgbClr val="3A3A3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325880" y="2724912"/>
            <a:ext cx="704088" cy="384048"/>
          </a:xfrm>
          <a:prstGeom prst="rect">
            <a:avLst/>
          </a:prstGeom>
          <a:solidFill>
            <a:srgbClr val="050505"/>
          </a:solidFill>
          <a:ln w="6350">
            <a:solidFill>
              <a:srgbClr val="3A3A3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85800" y="2852928"/>
            <a:ext cx="640080" cy="512064"/>
          </a:xfrm>
          <a:prstGeom prst="rect">
            <a:avLst/>
          </a:prstGeom>
          <a:solidFill>
            <a:srgbClr val="050505"/>
          </a:solidFill>
          <a:ln w="6350">
            <a:solidFill>
              <a:srgbClr val="3A3A3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49808" y="3364992"/>
            <a:ext cx="576072" cy="192024"/>
          </a:xfrm>
          <a:prstGeom prst="rect">
            <a:avLst/>
          </a:prstGeom>
          <a:solidFill>
            <a:srgbClr val="050505"/>
          </a:solidFill>
          <a:ln w="6350">
            <a:solidFill>
              <a:srgbClr val="3A3A3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029968" y="2852928"/>
            <a:ext cx="640080" cy="576072"/>
          </a:xfrm>
          <a:prstGeom prst="rect">
            <a:avLst/>
          </a:prstGeom>
          <a:solidFill>
            <a:srgbClr val="A8FF3E"/>
          </a:solidFill>
          <a:ln w="6350">
            <a:solidFill>
              <a:srgbClr val="A8FF3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93776" y="3364992"/>
            <a:ext cx="960120" cy="576072"/>
          </a:xfrm>
          <a:prstGeom prst="rect">
            <a:avLst/>
          </a:prstGeom>
          <a:solidFill>
            <a:srgbClr val="050505"/>
          </a:solidFill>
          <a:ln w="6350">
            <a:solidFill>
              <a:srgbClr val="3A3A3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85800" y="3941064"/>
            <a:ext cx="576072" cy="192024"/>
          </a:xfrm>
          <a:prstGeom prst="rect">
            <a:avLst/>
          </a:prstGeom>
          <a:solidFill>
            <a:srgbClr val="050505"/>
          </a:solidFill>
          <a:ln w="6350">
            <a:solidFill>
              <a:srgbClr val="3A3A3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453896" y="3108960"/>
            <a:ext cx="576072" cy="448056"/>
          </a:xfrm>
          <a:prstGeom prst="rect">
            <a:avLst/>
          </a:prstGeom>
          <a:solidFill>
            <a:srgbClr val="050505"/>
          </a:solidFill>
          <a:ln w="6350">
            <a:solidFill>
              <a:srgbClr val="3A3A3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645920" y="3557016"/>
            <a:ext cx="448056" cy="192024"/>
          </a:xfrm>
          <a:prstGeom prst="rect">
            <a:avLst/>
          </a:prstGeom>
          <a:solidFill>
            <a:srgbClr val="050505"/>
          </a:solidFill>
          <a:ln w="6350">
            <a:solidFill>
              <a:srgbClr val="3A3A3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093976" y="3429000"/>
            <a:ext cx="320040" cy="320040"/>
          </a:xfrm>
          <a:prstGeom prst="rect">
            <a:avLst/>
          </a:prstGeom>
          <a:solidFill>
            <a:srgbClr val="050505"/>
          </a:solidFill>
          <a:ln w="6350">
            <a:solidFill>
              <a:srgbClr val="3A3A3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261872" y="3749040"/>
            <a:ext cx="1152144" cy="576072"/>
          </a:xfrm>
          <a:prstGeom prst="rect">
            <a:avLst/>
          </a:prstGeom>
          <a:solidFill>
            <a:srgbClr val="050505"/>
          </a:solidFill>
          <a:ln w="6350">
            <a:solidFill>
              <a:srgbClr val="3A3A3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55548" y="161391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DARJ</a:t>
            </a:r>
            <a:endParaRPr lang="en-US" sz="600" dirty="0"/>
          </a:p>
        </p:txBody>
      </p:sp>
      <p:sp>
        <p:nvSpPr>
          <p:cNvPr id="25" name="Text 23"/>
          <p:cNvSpPr/>
          <p:nvPr/>
        </p:nvSpPr>
        <p:spPr>
          <a:xfrm>
            <a:off x="1083564" y="202996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N.BENGAL</a:t>
            </a:r>
            <a:endParaRPr lang="en-US" sz="600" dirty="0"/>
          </a:p>
        </p:txBody>
      </p:sp>
      <p:sp>
        <p:nvSpPr>
          <p:cNvPr id="26" name="Text 24"/>
          <p:cNvSpPr/>
          <p:nvPr/>
        </p:nvSpPr>
        <p:spPr>
          <a:xfrm>
            <a:off x="1083564" y="2542032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MALDA</a:t>
            </a:r>
            <a:endParaRPr lang="en-US" sz="600" dirty="0"/>
          </a:p>
        </p:txBody>
      </p:sp>
      <p:sp>
        <p:nvSpPr>
          <p:cNvPr id="27" name="Text 25"/>
          <p:cNvSpPr/>
          <p:nvPr/>
        </p:nvSpPr>
        <p:spPr>
          <a:xfrm>
            <a:off x="1403604" y="2862072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MURSHIDABAD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731520" y="305409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BURDWAN</a:t>
            </a:r>
            <a:endParaRPr lang="en-US" sz="600" dirty="0"/>
          </a:p>
        </p:txBody>
      </p:sp>
      <p:sp>
        <p:nvSpPr>
          <p:cNvPr id="29" name="Text 27"/>
          <p:cNvSpPr/>
          <p:nvPr/>
        </p:nvSpPr>
        <p:spPr>
          <a:xfrm>
            <a:off x="2075688" y="3086100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MATUA</a:t>
            </a:r>
            <a:endParaRPr lang="en-US" sz="600" dirty="0"/>
          </a:p>
        </p:txBody>
      </p:sp>
      <p:sp>
        <p:nvSpPr>
          <p:cNvPr id="30" name="Text 28"/>
          <p:cNvSpPr/>
          <p:nvPr/>
        </p:nvSpPr>
        <p:spPr>
          <a:xfrm>
            <a:off x="667512" y="3598164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JUNGLE MAHAL</a:t>
            </a:r>
            <a:endParaRPr lang="en-US" sz="600" dirty="0"/>
          </a:p>
        </p:txBody>
      </p:sp>
      <p:sp>
        <p:nvSpPr>
          <p:cNvPr id="31" name="Text 29"/>
          <p:cNvSpPr/>
          <p:nvPr/>
        </p:nvSpPr>
        <p:spPr>
          <a:xfrm>
            <a:off x="1467612" y="3278124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PRESIDENCY</a:t>
            </a:r>
            <a:endParaRPr lang="en-US" sz="600" dirty="0"/>
          </a:p>
        </p:txBody>
      </p:sp>
      <p:sp>
        <p:nvSpPr>
          <p:cNvPr id="32" name="Text 30"/>
          <p:cNvSpPr/>
          <p:nvPr/>
        </p:nvSpPr>
        <p:spPr>
          <a:xfrm>
            <a:off x="1979676" y="353415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KOL</a:t>
            </a:r>
            <a:endParaRPr lang="en-US" sz="600" dirty="0"/>
          </a:p>
        </p:txBody>
      </p:sp>
      <p:sp>
        <p:nvSpPr>
          <p:cNvPr id="33" name="Text 31"/>
          <p:cNvSpPr/>
          <p:nvPr/>
        </p:nvSpPr>
        <p:spPr>
          <a:xfrm>
            <a:off x="1563624" y="3982212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SOUTH RURAL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3749040" y="155448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PREDICTED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3749040" y="177393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TMC 65%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3749040" y="20116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BJP 30%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3749040" y="242316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ACTUAL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3749040" y="264261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TMC 30%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3749040" y="28803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BJP 60%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3749040" y="329184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SEATS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3749040" y="350215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Pred: TMC 28 · BJP 12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3749040" y="373075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Act:  BJP 33 · TMC 7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6583680" y="1554480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FACTOR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583680" y="18288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Reverse CAA swing.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6583680" y="2423160"/>
            <a:ext cx="2240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C7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Matua identification with BJP's CAA delivery, not the modelled backlash.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6583680" y="416052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 SEATS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505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22208" y="128016"/>
            <a:ext cx="329184" cy="329184"/>
          </a:xfrm>
          <a:prstGeom prst="ellipse">
            <a:avLst/>
          </a:prstGeom>
          <a:solidFill>
            <a:srgbClr val="050505"/>
          </a:solidFill>
          <a:ln w="19050">
            <a:solidFill>
              <a:srgbClr val="A8FF3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95360" y="201168"/>
            <a:ext cx="182880" cy="182880"/>
          </a:xfrm>
          <a:prstGeom prst="ellipse">
            <a:avLst/>
          </a:prstGeom>
          <a:solidFill>
            <a:srgbClr val="050505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50224" y="256032"/>
            <a:ext cx="73152" cy="73152"/>
          </a:xfrm>
          <a:prstGeom prst="ellipse">
            <a:avLst/>
          </a:prstGeom>
          <a:solidFill>
            <a:srgbClr val="A8FF3E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86460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Simulatte / Confidential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046720" y="486460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201168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ANALYSIS · 02 OF 10 · PRESIDENCY SUBURBS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Presidency Suburbs: TMC → BJP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457200" y="1298448"/>
            <a:ext cx="8229600" cy="0"/>
          </a:xfrm>
          <a:prstGeom prst="line">
            <a:avLst/>
          </a:prstGeom>
          <a:noFill/>
          <a:ln w="6350">
            <a:solidFill>
              <a:srgbClr val="9A999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41832" y="1508760"/>
            <a:ext cx="576072" cy="320040"/>
          </a:xfrm>
          <a:prstGeom prst="rect">
            <a:avLst/>
          </a:prstGeom>
          <a:solidFill>
            <a:srgbClr val="050505"/>
          </a:solidFill>
          <a:ln w="6350">
            <a:solidFill>
              <a:srgbClr val="3A3A3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77824" y="1828800"/>
            <a:ext cx="704088" cy="384048"/>
          </a:xfrm>
          <a:prstGeom prst="rect">
            <a:avLst/>
          </a:prstGeom>
          <a:solidFill>
            <a:srgbClr val="050505"/>
          </a:solidFill>
          <a:ln w="6350">
            <a:solidFill>
              <a:srgbClr val="3A3A3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69848" y="2212848"/>
            <a:ext cx="576072" cy="256032"/>
          </a:xfrm>
          <a:prstGeom prst="rect">
            <a:avLst/>
          </a:prstGeom>
          <a:solidFill>
            <a:srgbClr val="050505"/>
          </a:solidFill>
          <a:ln w="6350">
            <a:solidFill>
              <a:srgbClr val="3A3A3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69848" y="2468880"/>
            <a:ext cx="576072" cy="256032"/>
          </a:xfrm>
          <a:prstGeom prst="rect">
            <a:avLst/>
          </a:prstGeom>
          <a:solidFill>
            <a:srgbClr val="050505"/>
          </a:solidFill>
          <a:ln w="6350">
            <a:solidFill>
              <a:srgbClr val="3A3A3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325880" y="2724912"/>
            <a:ext cx="704088" cy="384048"/>
          </a:xfrm>
          <a:prstGeom prst="rect">
            <a:avLst/>
          </a:prstGeom>
          <a:solidFill>
            <a:srgbClr val="050505"/>
          </a:solidFill>
          <a:ln w="6350">
            <a:solidFill>
              <a:srgbClr val="3A3A3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85800" y="2852928"/>
            <a:ext cx="640080" cy="512064"/>
          </a:xfrm>
          <a:prstGeom prst="rect">
            <a:avLst/>
          </a:prstGeom>
          <a:solidFill>
            <a:srgbClr val="050505"/>
          </a:solidFill>
          <a:ln w="6350">
            <a:solidFill>
              <a:srgbClr val="3A3A3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49808" y="3364992"/>
            <a:ext cx="576072" cy="192024"/>
          </a:xfrm>
          <a:prstGeom prst="rect">
            <a:avLst/>
          </a:prstGeom>
          <a:solidFill>
            <a:srgbClr val="050505"/>
          </a:solidFill>
          <a:ln w="6350">
            <a:solidFill>
              <a:srgbClr val="3A3A3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029968" y="2852928"/>
            <a:ext cx="640080" cy="576072"/>
          </a:xfrm>
          <a:prstGeom prst="rect">
            <a:avLst/>
          </a:prstGeom>
          <a:solidFill>
            <a:srgbClr val="050505"/>
          </a:solidFill>
          <a:ln w="6350">
            <a:solidFill>
              <a:srgbClr val="3A3A3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93776" y="3364992"/>
            <a:ext cx="960120" cy="576072"/>
          </a:xfrm>
          <a:prstGeom prst="rect">
            <a:avLst/>
          </a:prstGeom>
          <a:solidFill>
            <a:srgbClr val="050505"/>
          </a:solidFill>
          <a:ln w="6350">
            <a:solidFill>
              <a:srgbClr val="3A3A3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85800" y="3941064"/>
            <a:ext cx="576072" cy="192024"/>
          </a:xfrm>
          <a:prstGeom prst="rect">
            <a:avLst/>
          </a:prstGeom>
          <a:solidFill>
            <a:srgbClr val="050505"/>
          </a:solidFill>
          <a:ln w="6350">
            <a:solidFill>
              <a:srgbClr val="3A3A3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453896" y="3108960"/>
            <a:ext cx="576072" cy="448056"/>
          </a:xfrm>
          <a:prstGeom prst="rect">
            <a:avLst/>
          </a:prstGeom>
          <a:solidFill>
            <a:srgbClr val="A8FF3E"/>
          </a:solidFill>
          <a:ln w="6350">
            <a:solidFill>
              <a:srgbClr val="A8FF3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645920" y="3557016"/>
            <a:ext cx="448056" cy="192024"/>
          </a:xfrm>
          <a:prstGeom prst="rect">
            <a:avLst/>
          </a:prstGeom>
          <a:solidFill>
            <a:srgbClr val="A8FF3E"/>
          </a:solidFill>
          <a:ln w="6350">
            <a:solidFill>
              <a:srgbClr val="A8FF3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093976" y="3429000"/>
            <a:ext cx="320040" cy="320040"/>
          </a:xfrm>
          <a:prstGeom prst="rect">
            <a:avLst/>
          </a:prstGeom>
          <a:solidFill>
            <a:srgbClr val="050505"/>
          </a:solidFill>
          <a:ln w="6350">
            <a:solidFill>
              <a:srgbClr val="3A3A3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261872" y="3749040"/>
            <a:ext cx="1152144" cy="576072"/>
          </a:xfrm>
          <a:prstGeom prst="rect">
            <a:avLst/>
          </a:prstGeom>
          <a:solidFill>
            <a:srgbClr val="050505"/>
          </a:solidFill>
          <a:ln w="6350">
            <a:solidFill>
              <a:srgbClr val="3A3A3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55548" y="161391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DARJ</a:t>
            </a:r>
            <a:endParaRPr lang="en-US" sz="600" dirty="0"/>
          </a:p>
        </p:txBody>
      </p:sp>
      <p:sp>
        <p:nvSpPr>
          <p:cNvPr id="25" name="Text 23"/>
          <p:cNvSpPr/>
          <p:nvPr/>
        </p:nvSpPr>
        <p:spPr>
          <a:xfrm>
            <a:off x="1083564" y="202996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N.BENGAL</a:t>
            </a:r>
            <a:endParaRPr lang="en-US" sz="600" dirty="0"/>
          </a:p>
        </p:txBody>
      </p:sp>
      <p:sp>
        <p:nvSpPr>
          <p:cNvPr id="26" name="Text 24"/>
          <p:cNvSpPr/>
          <p:nvPr/>
        </p:nvSpPr>
        <p:spPr>
          <a:xfrm>
            <a:off x="1083564" y="2542032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MALDA</a:t>
            </a:r>
            <a:endParaRPr lang="en-US" sz="600" dirty="0"/>
          </a:p>
        </p:txBody>
      </p:sp>
      <p:sp>
        <p:nvSpPr>
          <p:cNvPr id="27" name="Text 25"/>
          <p:cNvSpPr/>
          <p:nvPr/>
        </p:nvSpPr>
        <p:spPr>
          <a:xfrm>
            <a:off x="1403604" y="2862072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MURSHIDABAD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731520" y="305409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BURDWAN</a:t>
            </a:r>
            <a:endParaRPr lang="en-US" sz="600" dirty="0"/>
          </a:p>
        </p:txBody>
      </p:sp>
      <p:sp>
        <p:nvSpPr>
          <p:cNvPr id="29" name="Text 27"/>
          <p:cNvSpPr/>
          <p:nvPr/>
        </p:nvSpPr>
        <p:spPr>
          <a:xfrm>
            <a:off x="2075688" y="3086100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MATUA</a:t>
            </a:r>
            <a:endParaRPr lang="en-US" sz="600" dirty="0"/>
          </a:p>
        </p:txBody>
      </p:sp>
      <p:sp>
        <p:nvSpPr>
          <p:cNvPr id="30" name="Text 28"/>
          <p:cNvSpPr/>
          <p:nvPr/>
        </p:nvSpPr>
        <p:spPr>
          <a:xfrm>
            <a:off x="667512" y="3598164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JUNGLE MAHAL</a:t>
            </a:r>
            <a:endParaRPr lang="en-US" sz="600" dirty="0"/>
          </a:p>
        </p:txBody>
      </p:sp>
      <p:sp>
        <p:nvSpPr>
          <p:cNvPr id="31" name="Text 29"/>
          <p:cNvSpPr/>
          <p:nvPr/>
        </p:nvSpPr>
        <p:spPr>
          <a:xfrm>
            <a:off x="1467612" y="3278124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PRESIDENCY</a:t>
            </a:r>
            <a:endParaRPr lang="en-US" sz="600" dirty="0"/>
          </a:p>
        </p:txBody>
      </p:sp>
      <p:sp>
        <p:nvSpPr>
          <p:cNvPr id="32" name="Text 30"/>
          <p:cNvSpPr/>
          <p:nvPr/>
        </p:nvSpPr>
        <p:spPr>
          <a:xfrm>
            <a:off x="1979676" y="353415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KOL</a:t>
            </a:r>
            <a:endParaRPr lang="en-US" sz="600" dirty="0"/>
          </a:p>
        </p:txBody>
      </p:sp>
      <p:sp>
        <p:nvSpPr>
          <p:cNvPr id="33" name="Text 31"/>
          <p:cNvSpPr/>
          <p:nvPr/>
        </p:nvSpPr>
        <p:spPr>
          <a:xfrm>
            <a:off x="1563624" y="3982212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SOUTH RURAL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3749040" y="155448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PREDICTED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3749040" y="177393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TMC 52%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3749040" y="20116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BJP 30%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3749040" y="242316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ACTUAL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3749040" y="264261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TMC 36%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3749040" y="28803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BJP 50%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3749040" y="329184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SEATS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3749040" y="350215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Pred: TMC 28 · BJP 12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3749040" y="373075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Act:  BJP 30 · TMC 10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6583680" y="1554480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FACTOR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583680" y="18288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Hindu consolidation.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6583680" y="2423160"/>
            <a:ext cx="2240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C7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BJP voteshare across heterogeneous suburbs.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6583680" y="416052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 SEATS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505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22208" y="128016"/>
            <a:ext cx="329184" cy="329184"/>
          </a:xfrm>
          <a:prstGeom prst="ellipse">
            <a:avLst/>
          </a:prstGeom>
          <a:solidFill>
            <a:srgbClr val="050505"/>
          </a:solidFill>
          <a:ln w="19050">
            <a:solidFill>
              <a:srgbClr val="A8FF3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95360" y="201168"/>
            <a:ext cx="182880" cy="182880"/>
          </a:xfrm>
          <a:prstGeom prst="ellipse">
            <a:avLst/>
          </a:prstGeom>
          <a:solidFill>
            <a:srgbClr val="050505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50224" y="256032"/>
            <a:ext cx="73152" cy="73152"/>
          </a:xfrm>
          <a:prstGeom prst="ellipse">
            <a:avLst/>
          </a:prstGeom>
          <a:solidFill>
            <a:srgbClr val="A8FF3E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86460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Simulatte / Confidential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046720" y="486460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201168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ANALYSIS · 03 OF 10 · JUNGLE MAHAL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Jungle Mahal: TMC → BJP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457200" y="1298448"/>
            <a:ext cx="8229600" cy="0"/>
          </a:xfrm>
          <a:prstGeom prst="line">
            <a:avLst/>
          </a:prstGeom>
          <a:noFill/>
          <a:ln w="6350">
            <a:solidFill>
              <a:srgbClr val="9A999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41832" y="1508760"/>
            <a:ext cx="576072" cy="320040"/>
          </a:xfrm>
          <a:prstGeom prst="rect">
            <a:avLst/>
          </a:prstGeom>
          <a:solidFill>
            <a:srgbClr val="050505"/>
          </a:solidFill>
          <a:ln w="6350">
            <a:solidFill>
              <a:srgbClr val="3A3A3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77824" y="1828800"/>
            <a:ext cx="704088" cy="384048"/>
          </a:xfrm>
          <a:prstGeom prst="rect">
            <a:avLst/>
          </a:prstGeom>
          <a:solidFill>
            <a:srgbClr val="050505"/>
          </a:solidFill>
          <a:ln w="6350">
            <a:solidFill>
              <a:srgbClr val="3A3A3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69848" y="2212848"/>
            <a:ext cx="576072" cy="256032"/>
          </a:xfrm>
          <a:prstGeom prst="rect">
            <a:avLst/>
          </a:prstGeom>
          <a:solidFill>
            <a:srgbClr val="050505"/>
          </a:solidFill>
          <a:ln w="6350">
            <a:solidFill>
              <a:srgbClr val="3A3A3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69848" y="2468880"/>
            <a:ext cx="576072" cy="256032"/>
          </a:xfrm>
          <a:prstGeom prst="rect">
            <a:avLst/>
          </a:prstGeom>
          <a:solidFill>
            <a:srgbClr val="050505"/>
          </a:solidFill>
          <a:ln w="6350">
            <a:solidFill>
              <a:srgbClr val="3A3A3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325880" y="2724912"/>
            <a:ext cx="704088" cy="384048"/>
          </a:xfrm>
          <a:prstGeom prst="rect">
            <a:avLst/>
          </a:prstGeom>
          <a:solidFill>
            <a:srgbClr val="050505"/>
          </a:solidFill>
          <a:ln w="6350">
            <a:solidFill>
              <a:srgbClr val="3A3A3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85800" y="2852928"/>
            <a:ext cx="640080" cy="512064"/>
          </a:xfrm>
          <a:prstGeom prst="rect">
            <a:avLst/>
          </a:prstGeom>
          <a:solidFill>
            <a:srgbClr val="050505"/>
          </a:solidFill>
          <a:ln w="6350">
            <a:solidFill>
              <a:srgbClr val="3A3A3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49808" y="3364992"/>
            <a:ext cx="576072" cy="192024"/>
          </a:xfrm>
          <a:prstGeom prst="rect">
            <a:avLst/>
          </a:prstGeom>
          <a:solidFill>
            <a:srgbClr val="050505"/>
          </a:solidFill>
          <a:ln w="6350">
            <a:solidFill>
              <a:srgbClr val="3A3A3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029968" y="2852928"/>
            <a:ext cx="640080" cy="576072"/>
          </a:xfrm>
          <a:prstGeom prst="rect">
            <a:avLst/>
          </a:prstGeom>
          <a:solidFill>
            <a:srgbClr val="050505"/>
          </a:solidFill>
          <a:ln w="6350">
            <a:solidFill>
              <a:srgbClr val="3A3A3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93776" y="3364992"/>
            <a:ext cx="960120" cy="576072"/>
          </a:xfrm>
          <a:prstGeom prst="rect">
            <a:avLst/>
          </a:prstGeom>
          <a:solidFill>
            <a:srgbClr val="A8FF3E"/>
          </a:solidFill>
          <a:ln w="6350">
            <a:solidFill>
              <a:srgbClr val="A8FF3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85800" y="3941064"/>
            <a:ext cx="576072" cy="192024"/>
          </a:xfrm>
          <a:prstGeom prst="rect">
            <a:avLst/>
          </a:prstGeom>
          <a:solidFill>
            <a:srgbClr val="A8FF3E"/>
          </a:solidFill>
          <a:ln w="6350">
            <a:solidFill>
              <a:srgbClr val="A8FF3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453896" y="3108960"/>
            <a:ext cx="576072" cy="448056"/>
          </a:xfrm>
          <a:prstGeom prst="rect">
            <a:avLst/>
          </a:prstGeom>
          <a:solidFill>
            <a:srgbClr val="050505"/>
          </a:solidFill>
          <a:ln w="6350">
            <a:solidFill>
              <a:srgbClr val="3A3A3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645920" y="3557016"/>
            <a:ext cx="448056" cy="192024"/>
          </a:xfrm>
          <a:prstGeom prst="rect">
            <a:avLst/>
          </a:prstGeom>
          <a:solidFill>
            <a:srgbClr val="050505"/>
          </a:solidFill>
          <a:ln w="6350">
            <a:solidFill>
              <a:srgbClr val="3A3A3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093976" y="3429000"/>
            <a:ext cx="320040" cy="320040"/>
          </a:xfrm>
          <a:prstGeom prst="rect">
            <a:avLst/>
          </a:prstGeom>
          <a:solidFill>
            <a:srgbClr val="050505"/>
          </a:solidFill>
          <a:ln w="6350">
            <a:solidFill>
              <a:srgbClr val="3A3A3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261872" y="3749040"/>
            <a:ext cx="1152144" cy="576072"/>
          </a:xfrm>
          <a:prstGeom prst="rect">
            <a:avLst/>
          </a:prstGeom>
          <a:solidFill>
            <a:srgbClr val="050505"/>
          </a:solidFill>
          <a:ln w="6350">
            <a:solidFill>
              <a:srgbClr val="3A3A3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55548" y="161391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DARJ</a:t>
            </a:r>
            <a:endParaRPr lang="en-US" sz="600" dirty="0"/>
          </a:p>
        </p:txBody>
      </p:sp>
      <p:sp>
        <p:nvSpPr>
          <p:cNvPr id="25" name="Text 23"/>
          <p:cNvSpPr/>
          <p:nvPr/>
        </p:nvSpPr>
        <p:spPr>
          <a:xfrm>
            <a:off x="1083564" y="202996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N.BENGAL</a:t>
            </a:r>
            <a:endParaRPr lang="en-US" sz="600" dirty="0"/>
          </a:p>
        </p:txBody>
      </p:sp>
      <p:sp>
        <p:nvSpPr>
          <p:cNvPr id="26" name="Text 24"/>
          <p:cNvSpPr/>
          <p:nvPr/>
        </p:nvSpPr>
        <p:spPr>
          <a:xfrm>
            <a:off x="1083564" y="2542032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MALDA</a:t>
            </a:r>
            <a:endParaRPr lang="en-US" sz="600" dirty="0"/>
          </a:p>
        </p:txBody>
      </p:sp>
      <p:sp>
        <p:nvSpPr>
          <p:cNvPr id="27" name="Text 25"/>
          <p:cNvSpPr/>
          <p:nvPr/>
        </p:nvSpPr>
        <p:spPr>
          <a:xfrm>
            <a:off x="1403604" y="2862072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MURSHIDABAD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731520" y="305409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BURDWAN</a:t>
            </a:r>
            <a:endParaRPr lang="en-US" sz="600" dirty="0"/>
          </a:p>
        </p:txBody>
      </p:sp>
      <p:sp>
        <p:nvSpPr>
          <p:cNvPr id="29" name="Text 27"/>
          <p:cNvSpPr/>
          <p:nvPr/>
        </p:nvSpPr>
        <p:spPr>
          <a:xfrm>
            <a:off x="2075688" y="3086100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MATUA</a:t>
            </a:r>
            <a:endParaRPr lang="en-US" sz="600" dirty="0"/>
          </a:p>
        </p:txBody>
      </p:sp>
      <p:sp>
        <p:nvSpPr>
          <p:cNvPr id="30" name="Text 28"/>
          <p:cNvSpPr/>
          <p:nvPr/>
        </p:nvSpPr>
        <p:spPr>
          <a:xfrm>
            <a:off x="667512" y="3598164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JUNGLE MAHAL</a:t>
            </a:r>
            <a:endParaRPr lang="en-US" sz="600" dirty="0"/>
          </a:p>
        </p:txBody>
      </p:sp>
      <p:sp>
        <p:nvSpPr>
          <p:cNvPr id="31" name="Text 29"/>
          <p:cNvSpPr/>
          <p:nvPr/>
        </p:nvSpPr>
        <p:spPr>
          <a:xfrm>
            <a:off x="1467612" y="3278124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PRESIDENCY</a:t>
            </a:r>
            <a:endParaRPr lang="en-US" sz="600" dirty="0"/>
          </a:p>
        </p:txBody>
      </p:sp>
      <p:sp>
        <p:nvSpPr>
          <p:cNvPr id="32" name="Text 30"/>
          <p:cNvSpPr/>
          <p:nvPr/>
        </p:nvSpPr>
        <p:spPr>
          <a:xfrm>
            <a:off x="1979676" y="353415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KOL</a:t>
            </a:r>
            <a:endParaRPr lang="en-US" sz="600" dirty="0"/>
          </a:p>
        </p:txBody>
      </p:sp>
      <p:sp>
        <p:nvSpPr>
          <p:cNvPr id="33" name="Text 31"/>
          <p:cNvSpPr/>
          <p:nvPr/>
        </p:nvSpPr>
        <p:spPr>
          <a:xfrm>
            <a:off x="1563624" y="3982212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SOUTH RURAL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3749040" y="155448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PREDICTED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3749040" y="177393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TMC 58%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3749040" y="20116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BJP 28%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3749040" y="242316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ACTUAL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3749040" y="264261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TMC 32%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3749040" y="28803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BJP 56%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3749040" y="329184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SEATS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3749040" y="350215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Pred: TMC 38 · BJP 12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3749040" y="373075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Act:  BJP 38 · TMC 12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6583680" y="1554480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FACTOR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583680" y="18288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Sustained BJP organisation.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6583680" y="2423160"/>
            <a:ext cx="2240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C7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2021 anti-BJP correction did not stick; rural welfare delivery held.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6583680" y="416052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 SEATS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505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22208" y="128016"/>
            <a:ext cx="329184" cy="329184"/>
          </a:xfrm>
          <a:prstGeom prst="ellipse">
            <a:avLst/>
          </a:prstGeom>
          <a:solidFill>
            <a:srgbClr val="050505"/>
          </a:solidFill>
          <a:ln w="19050">
            <a:solidFill>
              <a:srgbClr val="A8FF3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95360" y="201168"/>
            <a:ext cx="182880" cy="182880"/>
          </a:xfrm>
          <a:prstGeom prst="ellipse">
            <a:avLst/>
          </a:prstGeom>
          <a:solidFill>
            <a:srgbClr val="050505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50224" y="256032"/>
            <a:ext cx="73152" cy="73152"/>
          </a:xfrm>
          <a:prstGeom prst="ellipse">
            <a:avLst/>
          </a:prstGeom>
          <a:solidFill>
            <a:srgbClr val="A8FF3E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86460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Simulatte / Confidential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046720" y="486460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201168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ANALYSIS · 04 OF 10 · SOUTH RURAL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South Rural: TMC → BJP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457200" y="1298448"/>
            <a:ext cx="8229600" cy="0"/>
          </a:xfrm>
          <a:prstGeom prst="line">
            <a:avLst/>
          </a:prstGeom>
          <a:noFill/>
          <a:ln w="6350">
            <a:solidFill>
              <a:srgbClr val="9A999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41832" y="1508760"/>
            <a:ext cx="576072" cy="320040"/>
          </a:xfrm>
          <a:prstGeom prst="rect">
            <a:avLst/>
          </a:prstGeom>
          <a:solidFill>
            <a:srgbClr val="050505"/>
          </a:solidFill>
          <a:ln w="6350">
            <a:solidFill>
              <a:srgbClr val="3A3A3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77824" y="1828800"/>
            <a:ext cx="704088" cy="384048"/>
          </a:xfrm>
          <a:prstGeom prst="rect">
            <a:avLst/>
          </a:prstGeom>
          <a:solidFill>
            <a:srgbClr val="050505"/>
          </a:solidFill>
          <a:ln w="6350">
            <a:solidFill>
              <a:srgbClr val="3A3A3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69848" y="2212848"/>
            <a:ext cx="576072" cy="256032"/>
          </a:xfrm>
          <a:prstGeom prst="rect">
            <a:avLst/>
          </a:prstGeom>
          <a:solidFill>
            <a:srgbClr val="050505"/>
          </a:solidFill>
          <a:ln w="6350">
            <a:solidFill>
              <a:srgbClr val="3A3A3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69848" y="2468880"/>
            <a:ext cx="576072" cy="256032"/>
          </a:xfrm>
          <a:prstGeom prst="rect">
            <a:avLst/>
          </a:prstGeom>
          <a:solidFill>
            <a:srgbClr val="050505"/>
          </a:solidFill>
          <a:ln w="6350">
            <a:solidFill>
              <a:srgbClr val="3A3A3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325880" y="2724912"/>
            <a:ext cx="704088" cy="384048"/>
          </a:xfrm>
          <a:prstGeom prst="rect">
            <a:avLst/>
          </a:prstGeom>
          <a:solidFill>
            <a:srgbClr val="050505"/>
          </a:solidFill>
          <a:ln w="6350">
            <a:solidFill>
              <a:srgbClr val="3A3A3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85800" y="2852928"/>
            <a:ext cx="640080" cy="512064"/>
          </a:xfrm>
          <a:prstGeom prst="rect">
            <a:avLst/>
          </a:prstGeom>
          <a:solidFill>
            <a:srgbClr val="050505"/>
          </a:solidFill>
          <a:ln w="6350">
            <a:solidFill>
              <a:srgbClr val="3A3A3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49808" y="3364992"/>
            <a:ext cx="576072" cy="192024"/>
          </a:xfrm>
          <a:prstGeom prst="rect">
            <a:avLst/>
          </a:prstGeom>
          <a:solidFill>
            <a:srgbClr val="050505"/>
          </a:solidFill>
          <a:ln w="6350">
            <a:solidFill>
              <a:srgbClr val="3A3A3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029968" y="2852928"/>
            <a:ext cx="640080" cy="576072"/>
          </a:xfrm>
          <a:prstGeom prst="rect">
            <a:avLst/>
          </a:prstGeom>
          <a:solidFill>
            <a:srgbClr val="050505"/>
          </a:solidFill>
          <a:ln w="6350">
            <a:solidFill>
              <a:srgbClr val="3A3A3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93776" y="3364992"/>
            <a:ext cx="960120" cy="576072"/>
          </a:xfrm>
          <a:prstGeom prst="rect">
            <a:avLst/>
          </a:prstGeom>
          <a:solidFill>
            <a:srgbClr val="050505"/>
          </a:solidFill>
          <a:ln w="6350">
            <a:solidFill>
              <a:srgbClr val="3A3A3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85800" y="3941064"/>
            <a:ext cx="576072" cy="192024"/>
          </a:xfrm>
          <a:prstGeom prst="rect">
            <a:avLst/>
          </a:prstGeom>
          <a:solidFill>
            <a:srgbClr val="050505"/>
          </a:solidFill>
          <a:ln w="6350">
            <a:solidFill>
              <a:srgbClr val="3A3A3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453896" y="3108960"/>
            <a:ext cx="576072" cy="448056"/>
          </a:xfrm>
          <a:prstGeom prst="rect">
            <a:avLst/>
          </a:prstGeom>
          <a:solidFill>
            <a:srgbClr val="050505"/>
          </a:solidFill>
          <a:ln w="6350">
            <a:solidFill>
              <a:srgbClr val="3A3A3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645920" y="3557016"/>
            <a:ext cx="448056" cy="192024"/>
          </a:xfrm>
          <a:prstGeom prst="rect">
            <a:avLst/>
          </a:prstGeom>
          <a:solidFill>
            <a:srgbClr val="050505"/>
          </a:solidFill>
          <a:ln w="6350">
            <a:solidFill>
              <a:srgbClr val="3A3A3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093976" y="3429000"/>
            <a:ext cx="320040" cy="320040"/>
          </a:xfrm>
          <a:prstGeom prst="rect">
            <a:avLst/>
          </a:prstGeom>
          <a:solidFill>
            <a:srgbClr val="050505"/>
          </a:solidFill>
          <a:ln w="6350">
            <a:solidFill>
              <a:srgbClr val="3A3A3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261872" y="3749040"/>
            <a:ext cx="1152144" cy="576072"/>
          </a:xfrm>
          <a:prstGeom prst="rect">
            <a:avLst/>
          </a:prstGeom>
          <a:solidFill>
            <a:srgbClr val="A8FF3E"/>
          </a:solidFill>
          <a:ln w="6350">
            <a:solidFill>
              <a:srgbClr val="A8FF3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55548" y="161391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DARJ</a:t>
            </a:r>
            <a:endParaRPr lang="en-US" sz="600" dirty="0"/>
          </a:p>
        </p:txBody>
      </p:sp>
      <p:sp>
        <p:nvSpPr>
          <p:cNvPr id="25" name="Text 23"/>
          <p:cNvSpPr/>
          <p:nvPr/>
        </p:nvSpPr>
        <p:spPr>
          <a:xfrm>
            <a:off x="1083564" y="202996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N.BENGAL</a:t>
            </a:r>
            <a:endParaRPr lang="en-US" sz="600" dirty="0"/>
          </a:p>
        </p:txBody>
      </p:sp>
      <p:sp>
        <p:nvSpPr>
          <p:cNvPr id="26" name="Text 24"/>
          <p:cNvSpPr/>
          <p:nvPr/>
        </p:nvSpPr>
        <p:spPr>
          <a:xfrm>
            <a:off x="1083564" y="2542032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MALDA</a:t>
            </a:r>
            <a:endParaRPr lang="en-US" sz="600" dirty="0"/>
          </a:p>
        </p:txBody>
      </p:sp>
      <p:sp>
        <p:nvSpPr>
          <p:cNvPr id="27" name="Text 25"/>
          <p:cNvSpPr/>
          <p:nvPr/>
        </p:nvSpPr>
        <p:spPr>
          <a:xfrm>
            <a:off x="1403604" y="2862072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MURSHIDABAD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731520" y="305409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BURDWAN</a:t>
            </a:r>
            <a:endParaRPr lang="en-US" sz="600" dirty="0"/>
          </a:p>
        </p:txBody>
      </p:sp>
      <p:sp>
        <p:nvSpPr>
          <p:cNvPr id="29" name="Text 27"/>
          <p:cNvSpPr/>
          <p:nvPr/>
        </p:nvSpPr>
        <p:spPr>
          <a:xfrm>
            <a:off x="2075688" y="3086100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MATUA</a:t>
            </a:r>
            <a:endParaRPr lang="en-US" sz="600" dirty="0"/>
          </a:p>
        </p:txBody>
      </p:sp>
      <p:sp>
        <p:nvSpPr>
          <p:cNvPr id="30" name="Text 28"/>
          <p:cNvSpPr/>
          <p:nvPr/>
        </p:nvSpPr>
        <p:spPr>
          <a:xfrm>
            <a:off x="667512" y="3598164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JUNGLE MAHAL</a:t>
            </a:r>
            <a:endParaRPr lang="en-US" sz="600" dirty="0"/>
          </a:p>
        </p:txBody>
      </p:sp>
      <p:sp>
        <p:nvSpPr>
          <p:cNvPr id="31" name="Text 29"/>
          <p:cNvSpPr/>
          <p:nvPr/>
        </p:nvSpPr>
        <p:spPr>
          <a:xfrm>
            <a:off x="1467612" y="3278124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PRESIDENCY</a:t>
            </a:r>
            <a:endParaRPr lang="en-US" sz="600" dirty="0"/>
          </a:p>
        </p:txBody>
      </p:sp>
      <p:sp>
        <p:nvSpPr>
          <p:cNvPr id="32" name="Text 30"/>
          <p:cNvSpPr/>
          <p:nvPr/>
        </p:nvSpPr>
        <p:spPr>
          <a:xfrm>
            <a:off x="1979676" y="353415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KOL</a:t>
            </a:r>
            <a:endParaRPr lang="en-US" sz="600" dirty="0"/>
          </a:p>
        </p:txBody>
      </p:sp>
      <p:sp>
        <p:nvSpPr>
          <p:cNvPr id="33" name="Text 31"/>
          <p:cNvSpPr/>
          <p:nvPr/>
        </p:nvSpPr>
        <p:spPr>
          <a:xfrm>
            <a:off x="1563624" y="3982212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SOUTH RURAL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3749040" y="155448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PREDICTED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3749040" y="177393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TMC 55%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3749040" y="20116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BJP 32%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3749040" y="242316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ACTUAL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3749040" y="264261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TMC 35%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3749040" y="28803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BJP 52%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3749040" y="329184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SEATS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3749040" y="350215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Pred: TMC 25 · BJP 10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3749040" y="373075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Act:  BJP 26 · TMC 9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6583680" y="1554480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FACTOR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583680" y="18288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Anti-incumbency.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6583680" y="2423160"/>
            <a:ext cx="2240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C7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Corruption cases (Sandeshkhali, recruitment scam) cut deepest here.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6583680" y="416052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35 SEATS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505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22208" y="128016"/>
            <a:ext cx="329184" cy="329184"/>
          </a:xfrm>
          <a:prstGeom prst="ellipse">
            <a:avLst/>
          </a:prstGeom>
          <a:solidFill>
            <a:srgbClr val="050505"/>
          </a:solidFill>
          <a:ln w="19050">
            <a:solidFill>
              <a:srgbClr val="A8FF3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95360" y="201168"/>
            <a:ext cx="182880" cy="182880"/>
          </a:xfrm>
          <a:prstGeom prst="ellipse">
            <a:avLst/>
          </a:prstGeom>
          <a:solidFill>
            <a:srgbClr val="050505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50224" y="256032"/>
            <a:ext cx="73152" cy="73152"/>
          </a:xfrm>
          <a:prstGeom prst="ellipse">
            <a:avLst/>
          </a:prstGeom>
          <a:solidFill>
            <a:srgbClr val="A8FF3E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86460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Simulatte / Confidential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046720" y="486460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201168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ANALYSIS · 05 OF 10 · KOLKATA URBAN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Kolkata Urban: TMC → BJP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457200" y="1298448"/>
            <a:ext cx="8229600" cy="0"/>
          </a:xfrm>
          <a:prstGeom prst="line">
            <a:avLst/>
          </a:prstGeom>
          <a:noFill/>
          <a:ln w="6350">
            <a:solidFill>
              <a:srgbClr val="9A999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41832" y="1508760"/>
            <a:ext cx="576072" cy="320040"/>
          </a:xfrm>
          <a:prstGeom prst="rect">
            <a:avLst/>
          </a:prstGeom>
          <a:solidFill>
            <a:srgbClr val="050505"/>
          </a:solidFill>
          <a:ln w="6350">
            <a:solidFill>
              <a:srgbClr val="3A3A3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77824" y="1828800"/>
            <a:ext cx="704088" cy="384048"/>
          </a:xfrm>
          <a:prstGeom prst="rect">
            <a:avLst/>
          </a:prstGeom>
          <a:solidFill>
            <a:srgbClr val="050505"/>
          </a:solidFill>
          <a:ln w="6350">
            <a:solidFill>
              <a:srgbClr val="3A3A3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69848" y="2212848"/>
            <a:ext cx="576072" cy="256032"/>
          </a:xfrm>
          <a:prstGeom prst="rect">
            <a:avLst/>
          </a:prstGeom>
          <a:solidFill>
            <a:srgbClr val="050505"/>
          </a:solidFill>
          <a:ln w="6350">
            <a:solidFill>
              <a:srgbClr val="3A3A3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69848" y="2468880"/>
            <a:ext cx="576072" cy="256032"/>
          </a:xfrm>
          <a:prstGeom prst="rect">
            <a:avLst/>
          </a:prstGeom>
          <a:solidFill>
            <a:srgbClr val="050505"/>
          </a:solidFill>
          <a:ln w="6350">
            <a:solidFill>
              <a:srgbClr val="3A3A3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325880" y="2724912"/>
            <a:ext cx="704088" cy="384048"/>
          </a:xfrm>
          <a:prstGeom prst="rect">
            <a:avLst/>
          </a:prstGeom>
          <a:solidFill>
            <a:srgbClr val="050505"/>
          </a:solidFill>
          <a:ln w="6350">
            <a:solidFill>
              <a:srgbClr val="3A3A3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85800" y="2852928"/>
            <a:ext cx="640080" cy="512064"/>
          </a:xfrm>
          <a:prstGeom prst="rect">
            <a:avLst/>
          </a:prstGeom>
          <a:solidFill>
            <a:srgbClr val="050505"/>
          </a:solidFill>
          <a:ln w="6350">
            <a:solidFill>
              <a:srgbClr val="3A3A3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49808" y="3364992"/>
            <a:ext cx="576072" cy="192024"/>
          </a:xfrm>
          <a:prstGeom prst="rect">
            <a:avLst/>
          </a:prstGeom>
          <a:solidFill>
            <a:srgbClr val="050505"/>
          </a:solidFill>
          <a:ln w="6350">
            <a:solidFill>
              <a:srgbClr val="3A3A3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029968" y="2852928"/>
            <a:ext cx="640080" cy="576072"/>
          </a:xfrm>
          <a:prstGeom prst="rect">
            <a:avLst/>
          </a:prstGeom>
          <a:solidFill>
            <a:srgbClr val="050505"/>
          </a:solidFill>
          <a:ln w="6350">
            <a:solidFill>
              <a:srgbClr val="3A3A3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93776" y="3364992"/>
            <a:ext cx="960120" cy="576072"/>
          </a:xfrm>
          <a:prstGeom prst="rect">
            <a:avLst/>
          </a:prstGeom>
          <a:solidFill>
            <a:srgbClr val="050505"/>
          </a:solidFill>
          <a:ln w="6350">
            <a:solidFill>
              <a:srgbClr val="3A3A3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85800" y="3941064"/>
            <a:ext cx="576072" cy="192024"/>
          </a:xfrm>
          <a:prstGeom prst="rect">
            <a:avLst/>
          </a:prstGeom>
          <a:solidFill>
            <a:srgbClr val="050505"/>
          </a:solidFill>
          <a:ln w="6350">
            <a:solidFill>
              <a:srgbClr val="3A3A3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453896" y="3108960"/>
            <a:ext cx="576072" cy="448056"/>
          </a:xfrm>
          <a:prstGeom prst="rect">
            <a:avLst/>
          </a:prstGeom>
          <a:solidFill>
            <a:srgbClr val="050505"/>
          </a:solidFill>
          <a:ln w="6350">
            <a:solidFill>
              <a:srgbClr val="3A3A3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645920" y="3557016"/>
            <a:ext cx="448056" cy="192024"/>
          </a:xfrm>
          <a:prstGeom prst="rect">
            <a:avLst/>
          </a:prstGeom>
          <a:solidFill>
            <a:srgbClr val="050505"/>
          </a:solidFill>
          <a:ln w="6350">
            <a:solidFill>
              <a:srgbClr val="3A3A3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093976" y="3429000"/>
            <a:ext cx="320040" cy="320040"/>
          </a:xfrm>
          <a:prstGeom prst="rect">
            <a:avLst/>
          </a:prstGeom>
          <a:solidFill>
            <a:srgbClr val="A8FF3E"/>
          </a:solidFill>
          <a:ln w="6350">
            <a:solidFill>
              <a:srgbClr val="A8FF3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261872" y="3749040"/>
            <a:ext cx="1152144" cy="576072"/>
          </a:xfrm>
          <a:prstGeom prst="rect">
            <a:avLst/>
          </a:prstGeom>
          <a:solidFill>
            <a:srgbClr val="050505"/>
          </a:solidFill>
          <a:ln w="6350">
            <a:solidFill>
              <a:srgbClr val="3A3A3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55548" y="161391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DARJ</a:t>
            </a:r>
            <a:endParaRPr lang="en-US" sz="600" dirty="0"/>
          </a:p>
        </p:txBody>
      </p:sp>
      <p:sp>
        <p:nvSpPr>
          <p:cNvPr id="25" name="Text 23"/>
          <p:cNvSpPr/>
          <p:nvPr/>
        </p:nvSpPr>
        <p:spPr>
          <a:xfrm>
            <a:off x="1083564" y="202996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N.BENGAL</a:t>
            </a:r>
            <a:endParaRPr lang="en-US" sz="600" dirty="0"/>
          </a:p>
        </p:txBody>
      </p:sp>
      <p:sp>
        <p:nvSpPr>
          <p:cNvPr id="26" name="Text 24"/>
          <p:cNvSpPr/>
          <p:nvPr/>
        </p:nvSpPr>
        <p:spPr>
          <a:xfrm>
            <a:off x="1083564" y="2542032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MALDA</a:t>
            </a:r>
            <a:endParaRPr lang="en-US" sz="600" dirty="0"/>
          </a:p>
        </p:txBody>
      </p:sp>
      <p:sp>
        <p:nvSpPr>
          <p:cNvPr id="27" name="Text 25"/>
          <p:cNvSpPr/>
          <p:nvPr/>
        </p:nvSpPr>
        <p:spPr>
          <a:xfrm>
            <a:off x="1403604" y="2862072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MURSHIDABAD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731520" y="305409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BURDWAN</a:t>
            </a:r>
            <a:endParaRPr lang="en-US" sz="600" dirty="0"/>
          </a:p>
        </p:txBody>
      </p:sp>
      <p:sp>
        <p:nvSpPr>
          <p:cNvPr id="29" name="Text 27"/>
          <p:cNvSpPr/>
          <p:nvPr/>
        </p:nvSpPr>
        <p:spPr>
          <a:xfrm>
            <a:off x="2075688" y="3086100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MATUA</a:t>
            </a:r>
            <a:endParaRPr lang="en-US" sz="600" dirty="0"/>
          </a:p>
        </p:txBody>
      </p:sp>
      <p:sp>
        <p:nvSpPr>
          <p:cNvPr id="30" name="Text 28"/>
          <p:cNvSpPr/>
          <p:nvPr/>
        </p:nvSpPr>
        <p:spPr>
          <a:xfrm>
            <a:off x="667512" y="3598164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JUNGLE MAHAL</a:t>
            </a:r>
            <a:endParaRPr lang="en-US" sz="600" dirty="0"/>
          </a:p>
        </p:txBody>
      </p:sp>
      <p:sp>
        <p:nvSpPr>
          <p:cNvPr id="31" name="Text 29"/>
          <p:cNvSpPr/>
          <p:nvPr/>
        </p:nvSpPr>
        <p:spPr>
          <a:xfrm>
            <a:off x="1467612" y="3278124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PRESIDENCY</a:t>
            </a:r>
            <a:endParaRPr lang="en-US" sz="600" dirty="0"/>
          </a:p>
        </p:txBody>
      </p:sp>
      <p:sp>
        <p:nvSpPr>
          <p:cNvPr id="32" name="Text 30"/>
          <p:cNvSpPr/>
          <p:nvPr/>
        </p:nvSpPr>
        <p:spPr>
          <a:xfrm>
            <a:off x="1979676" y="353415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KOL</a:t>
            </a:r>
            <a:endParaRPr lang="en-US" sz="600" dirty="0"/>
          </a:p>
        </p:txBody>
      </p:sp>
      <p:sp>
        <p:nvSpPr>
          <p:cNvPr id="33" name="Text 31"/>
          <p:cNvSpPr/>
          <p:nvPr/>
        </p:nvSpPr>
        <p:spPr>
          <a:xfrm>
            <a:off x="1563624" y="3982212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SOUTH RURAL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3749040" y="155448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PREDICTED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3749040" y="177393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TMC 50%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3749040" y="20116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BJP 28%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3749040" y="242316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ACTUAL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3749040" y="264261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TMC 36%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3749040" y="28803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BJP 48%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3749040" y="329184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SEATS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3749040" y="350215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Pred: TMC 22 · BJP 10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3749040" y="373075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Act:  BJP 20 · TMC 12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6583680" y="1554480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FACTOR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583680" y="18288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Muslim vote split.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6583680" y="2423160"/>
            <a:ext cx="2240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C7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4-way fragmentation handed BJP pluralities in Muslim-mixed seats.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6583680" y="416052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32 SEATS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505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22208" y="128016"/>
            <a:ext cx="329184" cy="329184"/>
          </a:xfrm>
          <a:prstGeom prst="ellipse">
            <a:avLst/>
          </a:prstGeom>
          <a:solidFill>
            <a:srgbClr val="050505"/>
          </a:solidFill>
          <a:ln w="19050">
            <a:solidFill>
              <a:srgbClr val="A8FF3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95360" y="201168"/>
            <a:ext cx="182880" cy="182880"/>
          </a:xfrm>
          <a:prstGeom prst="ellipse">
            <a:avLst/>
          </a:prstGeom>
          <a:solidFill>
            <a:srgbClr val="050505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50224" y="256032"/>
            <a:ext cx="73152" cy="73152"/>
          </a:xfrm>
          <a:prstGeom prst="ellipse">
            <a:avLst/>
          </a:prstGeom>
          <a:solidFill>
            <a:srgbClr val="A8FF3E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86460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Simulatte / Confidential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046720" y="486460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201168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ANALYSIS · 06 OF 10 · BURDWAN INDUSTRIAL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Burdwan Industrial: TMC → BJP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457200" y="1298448"/>
            <a:ext cx="8229600" cy="0"/>
          </a:xfrm>
          <a:prstGeom prst="line">
            <a:avLst/>
          </a:prstGeom>
          <a:noFill/>
          <a:ln w="6350">
            <a:solidFill>
              <a:srgbClr val="9A999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41832" y="1508760"/>
            <a:ext cx="576072" cy="320040"/>
          </a:xfrm>
          <a:prstGeom prst="rect">
            <a:avLst/>
          </a:prstGeom>
          <a:solidFill>
            <a:srgbClr val="050505"/>
          </a:solidFill>
          <a:ln w="6350">
            <a:solidFill>
              <a:srgbClr val="3A3A3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77824" y="1828800"/>
            <a:ext cx="704088" cy="384048"/>
          </a:xfrm>
          <a:prstGeom prst="rect">
            <a:avLst/>
          </a:prstGeom>
          <a:solidFill>
            <a:srgbClr val="050505"/>
          </a:solidFill>
          <a:ln w="6350">
            <a:solidFill>
              <a:srgbClr val="3A3A3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69848" y="2212848"/>
            <a:ext cx="576072" cy="256032"/>
          </a:xfrm>
          <a:prstGeom prst="rect">
            <a:avLst/>
          </a:prstGeom>
          <a:solidFill>
            <a:srgbClr val="050505"/>
          </a:solidFill>
          <a:ln w="6350">
            <a:solidFill>
              <a:srgbClr val="3A3A3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69848" y="2468880"/>
            <a:ext cx="576072" cy="256032"/>
          </a:xfrm>
          <a:prstGeom prst="rect">
            <a:avLst/>
          </a:prstGeom>
          <a:solidFill>
            <a:srgbClr val="050505"/>
          </a:solidFill>
          <a:ln w="6350">
            <a:solidFill>
              <a:srgbClr val="3A3A3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325880" y="2724912"/>
            <a:ext cx="704088" cy="384048"/>
          </a:xfrm>
          <a:prstGeom prst="rect">
            <a:avLst/>
          </a:prstGeom>
          <a:solidFill>
            <a:srgbClr val="050505"/>
          </a:solidFill>
          <a:ln w="6350">
            <a:solidFill>
              <a:srgbClr val="3A3A3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85800" y="2852928"/>
            <a:ext cx="640080" cy="512064"/>
          </a:xfrm>
          <a:prstGeom prst="rect">
            <a:avLst/>
          </a:prstGeom>
          <a:solidFill>
            <a:srgbClr val="A8FF3E"/>
          </a:solidFill>
          <a:ln w="6350">
            <a:solidFill>
              <a:srgbClr val="A8FF3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49808" y="3364992"/>
            <a:ext cx="576072" cy="192024"/>
          </a:xfrm>
          <a:prstGeom prst="rect">
            <a:avLst/>
          </a:prstGeom>
          <a:solidFill>
            <a:srgbClr val="A8FF3E"/>
          </a:solidFill>
          <a:ln w="6350">
            <a:solidFill>
              <a:srgbClr val="A8FF3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029968" y="2852928"/>
            <a:ext cx="640080" cy="576072"/>
          </a:xfrm>
          <a:prstGeom prst="rect">
            <a:avLst/>
          </a:prstGeom>
          <a:solidFill>
            <a:srgbClr val="050505"/>
          </a:solidFill>
          <a:ln w="6350">
            <a:solidFill>
              <a:srgbClr val="3A3A3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93776" y="3364992"/>
            <a:ext cx="960120" cy="576072"/>
          </a:xfrm>
          <a:prstGeom prst="rect">
            <a:avLst/>
          </a:prstGeom>
          <a:solidFill>
            <a:srgbClr val="050505"/>
          </a:solidFill>
          <a:ln w="6350">
            <a:solidFill>
              <a:srgbClr val="3A3A3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85800" y="3941064"/>
            <a:ext cx="576072" cy="192024"/>
          </a:xfrm>
          <a:prstGeom prst="rect">
            <a:avLst/>
          </a:prstGeom>
          <a:solidFill>
            <a:srgbClr val="050505"/>
          </a:solidFill>
          <a:ln w="6350">
            <a:solidFill>
              <a:srgbClr val="3A3A3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453896" y="3108960"/>
            <a:ext cx="576072" cy="448056"/>
          </a:xfrm>
          <a:prstGeom prst="rect">
            <a:avLst/>
          </a:prstGeom>
          <a:solidFill>
            <a:srgbClr val="050505"/>
          </a:solidFill>
          <a:ln w="6350">
            <a:solidFill>
              <a:srgbClr val="3A3A3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645920" y="3557016"/>
            <a:ext cx="448056" cy="192024"/>
          </a:xfrm>
          <a:prstGeom prst="rect">
            <a:avLst/>
          </a:prstGeom>
          <a:solidFill>
            <a:srgbClr val="050505"/>
          </a:solidFill>
          <a:ln w="6350">
            <a:solidFill>
              <a:srgbClr val="3A3A3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093976" y="3429000"/>
            <a:ext cx="320040" cy="320040"/>
          </a:xfrm>
          <a:prstGeom prst="rect">
            <a:avLst/>
          </a:prstGeom>
          <a:solidFill>
            <a:srgbClr val="050505"/>
          </a:solidFill>
          <a:ln w="6350">
            <a:solidFill>
              <a:srgbClr val="3A3A3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261872" y="3749040"/>
            <a:ext cx="1152144" cy="576072"/>
          </a:xfrm>
          <a:prstGeom prst="rect">
            <a:avLst/>
          </a:prstGeom>
          <a:solidFill>
            <a:srgbClr val="050505"/>
          </a:solidFill>
          <a:ln w="6350">
            <a:solidFill>
              <a:srgbClr val="3A3A3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55548" y="161391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DARJ</a:t>
            </a:r>
            <a:endParaRPr lang="en-US" sz="600" dirty="0"/>
          </a:p>
        </p:txBody>
      </p:sp>
      <p:sp>
        <p:nvSpPr>
          <p:cNvPr id="25" name="Text 23"/>
          <p:cNvSpPr/>
          <p:nvPr/>
        </p:nvSpPr>
        <p:spPr>
          <a:xfrm>
            <a:off x="1083564" y="202996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N.BENGAL</a:t>
            </a:r>
            <a:endParaRPr lang="en-US" sz="600" dirty="0"/>
          </a:p>
        </p:txBody>
      </p:sp>
      <p:sp>
        <p:nvSpPr>
          <p:cNvPr id="26" name="Text 24"/>
          <p:cNvSpPr/>
          <p:nvPr/>
        </p:nvSpPr>
        <p:spPr>
          <a:xfrm>
            <a:off x="1083564" y="2542032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MALDA</a:t>
            </a:r>
            <a:endParaRPr lang="en-US" sz="600" dirty="0"/>
          </a:p>
        </p:txBody>
      </p:sp>
      <p:sp>
        <p:nvSpPr>
          <p:cNvPr id="27" name="Text 25"/>
          <p:cNvSpPr/>
          <p:nvPr/>
        </p:nvSpPr>
        <p:spPr>
          <a:xfrm>
            <a:off x="1403604" y="2862072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MURSHIDABAD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731520" y="305409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BURDWAN</a:t>
            </a:r>
            <a:endParaRPr lang="en-US" sz="600" dirty="0"/>
          </a:p>
        </p:txBody>
      </p:sp>
      <p:sp>
        <p:nvSpPr>
          <p:cNvPr id="29" name="Text 27"/>
          <p:cNvSpPr/>
          <p:nvPr/>
        </p:nvSpPr>
        <p:spPr>
          <a:xfrm>
            <a:off x="2075688" y="3086100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MATUA</a:t>
            </a:r>
            <a:endParaRPr lang="en-US" sz="600" dirty="0"/>
          </a:p>
        </p:txBody>
      </p:sp>
      <p:sp>
        <p:nvSpPr>
          <p:cNvPr id="30" name="Text 28"/>
          <p:cNvSpPr/>
          <p:nvPr/>
        </p:nvSpPr>
        <p:spPr>
          <a:xfrm>
            <a:off x="667512" y="3598164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JUNGLE MAHAL</a:t>
            </a:r>
            <a:endParaRPr lang="en-US" sz="600" dirty="0"/>
          </a:p>
        </p:txBody>
      </p:sp>
      <p:sp>
        <p:nvSpPr>
          <p:cNvPr id="31" name="Text 29"/>
          <p:cNvSpPr/>
          <p:nvPr/>
        </p:nvSpPr>
        <p:spPr>
          <a:xfrm>
            <a:off x="1467612" y="3278124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PRESIDENCY</a:t>
            </a:r>
            <a:endParaRPr lang="en-US" sz="600" dirty="0"/>
          </a:p>
        </p:txBody>
      </p:sp>
      <p:sp>
        <p:nvSpPr>
          <p:cNvPr id="32" name="Text 30"/>
          <p:cNvSpPr/>
          <p:nvPr/>
        </p:nvSpPr>
        <p:spPr>
          <a:xfrm>
            <a:off x="1979676" y="353415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KOL</a:t>
            </a:r>
            <a:endParaRPr lang="en-US" sz="600" dirty="0"/>
          </a:p>
        </p:txBody>
      </p:sp>
      <p:sp>
        <p:nvSpPr>
          <p:cNvPr id="33" name="Text 31"/>
          <p:cNvSpPr/>
          <p:nvPr/>
        </p:nvSpPr>
        <p:spPr>
          <a:xfrm>
            <a:off x="1563624" y="3982212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SOUTH RURAL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3749040" y="155448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PREDICTED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3749040" y="177393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TMC 53%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3749040" y="20116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BJP 30%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3749040" y="242316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ACTUAL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3749040" y="264261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TMC 35%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3749040" y="28803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BJP 50%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3749040" y="329184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SEATS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3749040" y="350215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Pred: TMC 17 · BJP 8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3749040" y="373075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Act:  BJP 18 · TMC 7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6583680" y="1554480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FACTOR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583680" y="18288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Industrial worker swing.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6583680" y="2423160"/>
            <a:ext cx="2240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C7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Economic anxiety + Hindu consolidation, not modelled together.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6583680" y="416052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 SEATS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505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22208" y="128016"/>
            <a:ext cx="329184" cy="329184"/>
          </a:xfrm>
          <a:prstGeom prst="ellipse">
            <a:avLst/>
          </a:prstGeom>
          <a:solidFill>
            <a:srgbClr val="050505"/>
          </a:solidFill>
          <a:ln w="19050">
            <a:solidFill>
              <a:srgbClr val="A8FF3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95360" y="201168"/>
            <a:ext cx="182880" cy="182880"/>
          </a:xfrm>
          <a:prstGeom prst="ellipse">
            <a:avLst/>
          </a:prstGeom>
          <a:solidFill>
            <a:srgbClr val="050505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50224" y="256032"/>
            <a:ext cx="73152" cy="73152"/>
          </a:xfrm>
          <a:prstGeom prst="ellipse">
            <a:avLst/>
          </a:prstGeom>
          <a:solidFill>
            <a:srgbClr val="A8FF3E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86460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Simulatte / Confidential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046720" y="486460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201168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ANALYSIS · 07 OF 10 · NORTH BENGAL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North Bengal: TMC → BJP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457200" y="1298448"/>
            <a:ext cx="8229600" cy="0"/>
          </a:xfrm>
          <a:prstGeom prst="line">
            <a:avLst/>
          </a:prstGeom>
          <a:noFill/>
          <a:ln w="6350">
            <a:solidFill>
              <a:srgbClr val="9A999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41832" y="1508760"/>
            <a:ext cx="576072" cy="320040"/>
          </a:xfrm>
          <a:prstGeom prst="rect">
            <a:avLst/>
          </a:prstGeom>
          <a:solidFill>
            <a:srgbClr val="050505"/>
          </a:solidFill>
          <a:ln w="6350">
            <a:solidFill>
              <a:srgbClr val="3A3A3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77824" y="1828800"/>
            <a:ext cx="704088" cy="384048"/>
          </a:xfrm>
          <a:prstGeom prst="rect">
            <a:avLst/>
          </a:prstGeom>
          <a:solidFill>
            <a:srgbClr val="A8FF3E"/>
          </a:solidFill>
          <a:ln w="6350">
            <a:solidFill>
              <a:srgbClr val="A8FF3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69848" y="2212848"/>
            <a:ext cx="576072" cy="256032"/>
          </a:xfrm>
          <a:prstGeom prst="rect">
            <a:avLst/>
          </a:prstGeom>
          <a:solidFill>
            <a:srgbClr val="A8FF3E"/>
          </a:solidFill>
          <a:ln w="6350">
            <a:solidFill>
              <a:srgbClr val="A8FF3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69848" y="2468880"/>
            <a:ext cx="576072" cy="256032"/>
          </a:xfrm>
          <a:prstGeom prst="rect">
            <a:avLst/>
          </a:prstGeom>
          <a:solidFill>
            <a:srgbClr val="050505"/>
          </a:solidFill>
          <a:ln w="6350">
            <a:solidFill>
              <a:srgbClr val="3A3A3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325880" y="2724912"/>
            <a:ext cx="704088" cy="384048"/>
          </a:xfrm>
          <a:prstGeom prst="rect">
            <a:avLst/>
          </a:prstGeom>
          <a:solidFill>
            <a:srgbClr val="050505"/>
          </a:solidFill>
          <a:ln w="6350">
            <a:solidFill>
              <a:srgbClr val="3A3A3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85800" y="2852928"/>
            <a:ext cx="640080" cy="512064"/>
          </a:xfrm>
          <a:prstGeom prst="rect">
            <a:avLst/>
          </a:prstGeom>
          <a:solidFill>
            <a:srgbClr val="050505"/>
          </a:solidFill>
          <a:ln w="6350">
            <a:solidFill>
              <a:srgbClr val="3A3A3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49808" y="3364992"/>
            <a:ext cx="576072" cy="192024"/>
          </a:xfrm>
          <a:prstGeom prst="rect">
            <a:avLst/>
          </a:prstGeom>
          <a:solidFill>
            <a:srgbClr val="050505"/>
          </a:solidFill>
          <a:ln w="6350">
            <a:solidFill>
              <a:srgbClr val="3A3A3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029968" y="2852928"/>
            <a:ext cx="640080" cy="576072"/>
          </a:xfrm>
          <a:prstGeom prst="rect">
            <a:avLst/>
          </a:prstGeom>
          <a:solidFill>
            <a:srgbClr val="050505"/>
          </a:solidFill>
          <a:ln w="6350">
            <a:solidFill>
              <a:srgbClr val="3A3A3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93776" y="3364992"/>
            <a:ext cx="960120" cy="576072"/>
          </a:xfrm>
          <a:prstGeom prst="rect">
            <a:avLst/>
          </a:prstGeom>
          <a:solidFill>
            <a:srgbClr val="050505"/>
          </a:solidFill>
          <a:ln w="6350">
            <a:solidFill>
              <a:srgbClr val="3A3A3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85800" y="3941064"/>
            <a:ext cx="576072" cy="192024"/>
          </a:xfrm>
          <a:prstGeom prst="rect">
            <a:avLst/>
          </a:prstGeom>
          <a:solidFill>
            <a:srgbClr val="050505"/>
          </a:solidFill>
          <a:ln w="6350">
            <a:solidFill>
              <a:srgbClr val="3A3A3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453896" y="3108960"/>
            <a:ext cx="576072" cy="448056"/>
          </a:xfrm>
          <a:prstGeom prst="rect">
            <a:avLst/>
          </a:prstGeom>
          <a:solidFill>
            <a:srgbClr val="050505"/>
          </a:solidFill>
          <a:ln w="6350">
            <a:solidFill>
              <a:srgbClr val="3A3A3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645920" y="3557016"/>
            <a:ext cx="448056" cy="192024"/>
          </a:xfrm>
          <a:prstGeom prst="rect">
            <a:avLst/>
          </a:prstGeom>
          <a:solidFill>
            <a:srgbClr val="050505"/>
          </a:solidFill>
          <a:ln w="6350">
            <a:solidFill>
              <a:srgbClr val="3A3A3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093976" y="3429000"/>
            <a:ext cx="320040" cy="320040"/>
          </a:xfrm>
          <a:prstGeom prst="rect">
            <a:avLst/>
          </a:prstGeom>
          <a:solidFill>
            <a:srgbClr val="050505"/>
          </a:solidFill>
          <a:ln w="6350">
            <a:solidFill>
              <a:srgbClr val="3A3A3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261872" y="3749040"/>
            <a:ext cx="1152144" cy="576072"/>
          </a:xfrm>
          <a:prstGeom prst="rect">
            <a:avLst/>
          </a:prstGeom>
          <a:solidFill>
            <a:srgbClr val="050505"/>
          </a:solidFill>
          <a:ln w="6350">
            <a:solidFill>
              <a:srgbClr val="3A3A3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55548" y="161391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DARJ</a:t>
            </a:r>
            <a:endParaRPr lang="en-US" sz="600" dirty="0"/>
          </a:p>
        </p:txBody>
      </p:sp>
      <p:sp>
        <p:nvSpPr>
          <p:cNvPr id="25" name="Text 23"/>
          <p:cNvSpPr/>
          <p:nvPr/>
        </p:nvSpPr>
        <p:spPr>
          <a:xfrm>
            <a:off x="1083564" y="202996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N.BENGAL</a:t>
            </a:r>
            <a:endParaRPr lang="en-US" sz="600" dirty="0"/>
          </a:p>
        </p:txBody>
      </p:sp>
      <p:sp>
        <p:nvSpPr>
          <p:cNvPr id="26" name="Text 24"/>
          <p:cNvSpPr/>
          <p:nvPr/>
        </p:nvSpPr>
        <p:spPr>
          <a:xfrm>
            <a:off x="1083564" y="2542032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MALDA</a:t>
            </a:r>
            <a:endParaRPr lang="en-US" sz="600" dirty="0"/>
          </a:p>
        </p:txBody>
      </p:sp>
      <p:sp>
        <p:nvSpPr>
          <p:cNvPr id="27" name="Text 25"/>
          <p:cNvSpPr/>
          <p:nvPr/>
        </p:nvSpPr>
        <p:spPr>
          <a:xfrm>
            <a:off x="1403604" y="2862072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MURSHIDABAD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731520" y="305409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BURDWAN</a:t>
            </a:r>
            <a:endParaRPr lang="en-US" sz="600" dirty="0"/>
          </a:p>
        </p:txBody>
      </p:sp>
      <p:sp>
        <p:nvSpPr>
          <p:cNvPr id="29" name="Text 27"/>
          <p:cNvSpPr/>
          <p:nvPr/>
        </p:nvSpPr>
        <p:spPr>
          <a:xfrm>
            <a:off x="2075688" y="3086100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MATUA</a:t>
            </a:r>
            <a:endParaRPr lang="en-US" sz="600" dirty="0"/>
          </a:p>
        </p:txBody>
      </p:sp>
      <p:sp>
        <p:nvSpPr>
          <p:cNvPr id="30" name="Text 28"/>
          <p:cNvSpPr/>
          <p:nvPr/>
        </p:nvSpPr>
        <p:spPr>
          <a:xfrm>
            <a:off x="667512" y="3598164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JUNGLE MAHAL</a:t>
            </a:r>
            <a:endParaRPr lang="en-US" sz="600" dirty="0"/>
          </a:p>
        </p:txBody>
      </p:sp>
      <p:sp>
        <p:nvSpPr>
          <p:cNvPr id="31" name="Text 29"/>
          <p:cNvSpPr/>
          <p:nvPr/>
        </p:nvSpPr>
        <p:spPr>
          <a:xfrm>
            <a:off x="1467612" y="3278124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PRESIDENCY</a:t>
            </a:r>
            <a:endParaRPr lang="en-US" sz="600" dirty="0"/>
          </a:p>
        </p:txBody>
      </p:sp>
      <p:sp>
        <p:nvSpPr>
          <p:cNvPr id="32" name="Text 30"/>
          <p:cNvSpPr/>
          <p:nvPr/>
        </p:nvSpPr>
        <p:spPr>
          <a:xfrm>
            <a:off x="1979676" y="353415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KOL</a:t>
            </a:r>
            <a:endParaRPr lang="en-US" sz="600" dirty="0"/>
          </a:p>
        </p:txBody>
      </p:sp>
      <p:sp>
        <p:nvSpPr>
          <p:cNvPr id="33" name="Text 31"/>
          <p:cNvSpPr/>
          <p:nvPr/>
        </p:nvSpPr>
        <p:spPr>
          <a:xfrm>
            <a:off x="1563624" y="3982212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SOUTH RURAL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3749040" y="155448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PREDICTED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3749040" y="177393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TMC 48%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3749040" y="20116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BJP 35%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3749040" y="242316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ACTUAL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3749040" y="264261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TMC 28%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3749040" y="28803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BJP 56%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3749040" y="329184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SEATS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3749040" y="350215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Pred: TMC 14 · BJP 10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3749040" y="373075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Act:  BJP 22 · TMC 2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6583680" y="1554480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FACTOR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583680" y="18288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SIR voter-roll deletions.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6583680" y="2423160"/>
            <a:ext cx="2240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C7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Disproportionate impact in Muslim-majority blocks; turnout asymmetry.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6583680" y="416052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24 SEATS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505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22208" y="128016"/>
            <a:ext cx="329184" cy="329184"/>
          </a:xfrm>
          <a:prstGeom prst="ellipse">
            <a:avLst/>
          </a:prstGeom>
          <a:solidFill>
            <a:srgbClr val="050505"/>
          </a:solidFill>
          <a:ln w="19050">
            <a:solidFill>
              <a:srgbClr val="A8FF3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95360" y="201168"/>
            <a:ext cx="182880" cy="182880"/>
          </a:xfrm>
          <a:prstGeom prst="ellipse">
            <a:avLst/>
          </a:prstGeom>
          <a:solidFill>
            <a:srgbClr val="050505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50224" y="256032"/>
            <a:ext cx="73152" cy="73152"/>
          </a:xfrm>
          <a:prstGeom prst="ellipse">
            <a:avLst/>
          </a:prstGeom>
          <a:solidFill>
            <a:srgbClr val="A8FF3E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86460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Simulatte / Confidential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046720" y="486460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201168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ANALYSIS · 08 OF 10 · MURSHIDABAD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Murshidabad: TMC → TMC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457200" y="1298448"/>
            <a:ext cx="8229600" cy="0"/>
          </a:xfrm>
          <a:prstGeom prst="line">
            <a:avLst/>
          </a:prstGeom>
          <a:noFill/>
          <a:ln w="6350">
            <a:solidFill>
              <a:srgbClr val="9A999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41832" y="1508760"/>
            <a:ext cx="576072" cy="320040"/>
          </a:xfrm>
          <a:prstGeom prst="rect">
            <a:avLst/>
          </a:prstGeom>
          <a:solidFill>
            <a:srgbClr val="050505"/>
          </a:solidFill>
          <a:ln w="6350">
            <a:solidFill>
              <a:srgbClr val="3A3A3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77824" y="1828800"/>
            <a:ext cx="704088" cy="384048"/>
          </a:xfrm>
          <a:prstGeom prst="rect">
            <a:avLst/>
          </a:prstGeom>
          <a:solidFill>
            <a:srgbClr val="050505"/>
          </a:solidFill>
          <a:ln w="6350">
            <a:solidFill>
              <a:srgbClr val="3A3A3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69848" y="2212848"/>
            <a:ext cx="576072" cy="256032"/>
          </a:xfrm>
          <a:prstGeom prst="rect">
            <a:avLst/>
          </a:prstGeom>
          <a:solidFill>
            <a:srgbClr val="050505"/>
          </a:solidFill>
          <a:ln w="6350">
            <a:solidFill>
              <a:srgbClr val="3A3A3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69848" y="2468880"/>
            <a:ext cx="576072" cy="256032"/>
          </a:xfrm>
          <a:prstGeom prst="rect">
            <a:avLst/>
          </a:prstGeom>
          <a:solidFill>
            <a:srgbClr val="050505"/>
          </a:solidFill>
          <a:ln w="6350">
            <a:solidFill>
              <a:srgbClr val="3A3A3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325880" y="2724912"/>
            <a:ext cx="704088" cy="384048"/>
          </a:xfrm>
          <a:prstGeom prst="rect">
            <a:avLst/>
          </a:prstGeom>
          <a:solidFill>
            <a:srgbClr val="A8FF3E"/>
          </a:solidFill>
          <a:ln w="6350">
            <a:solidFill>
              <a:srgbClr val="A8FF3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85800" y="2852928"/>
            <a:ext cx="640080" cy="512064"/>
          </a:xfrm>
          <a:prstGeom prst="rect">
            <a:avLst/>
          </a:prstGeom>
          <a:solidFill>
            <a:srgbClr val="050505"/>
          </a:solidFill>
          <a:ln w="6350">
            <a:solidFill>
              <a:srgbClr val="3A3A3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49808" y="3364992"/>
            <a:ext cx="576072" cy="192024"/>
          </a:xfrm>
          <a:prstGeom prst="rect">
            <a:avLst/>
          </a:prstGeom>
          <a:solidFill>
            <a:srgbClr val="050505"/>
          </a:solidFill>
          <a:ln w="6350">
            <a:solidFill>
              <a:srgbClr val="3A3A3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029968" y="2852928"/>
            <a:ext cx="640080" cy="576072"/>
          </a:xfrm>
          <a:prstGeom prst="rect">
            <a:avLst/>
          </a:prstGeom>
          <a:solidFill>
            <a:srgbClr val="050505"/>
          </a:solidFill>
          <a:ln w="6350">
            <a:solidFill>
              <a:srgbClr val="3A3A3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93776" y="3364992"/>
            <a:ext cx="960120" cy="576072"/>
          </a:xfrm>
          <a:prstGeom prst="rect">
            <a:avLst/>
          </a:prstGeom>
          <a:solidFill>
            <a:srgbClr val="050505"/>
          </a:solidFill>
          <a:ln w="6350">
            <a:solidFill>
              <a:srgbClr val="3A3A3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85800" y="3941064"/>
            <a:ext cx="576072" cy="192024"/>
          </a:xfrm>
          <a:prstGeom prst="rect">
            <a:avLst/>
          </a:prstGeom>
          <a:solidFill>
            <a:srgbClr val="050505"/>
          </a:solidFill>
          <a:ln w="6350">
            <a:solidFill>
              <a:srgbClr val="3A3A3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453896" y="3108960"/>
            <a:ext cx="576072" cy="448056"/>
          </a:xfrm>
          <a:prstGeom prst="rect">
            <a:avLst/>
          </a:prstGeom>
          <a:solidFill>
            <a:srgbClr val="050505"/>
          </a:solidFill>
          <a:ln w="6350">
            <a:solidFill>
              <a:srgbClr val="3A3A3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645920" y="3557016"/>
            <a:ext cx="448056" cy="192024"/>
          </a:xfrm>
          <a:prstGeom prst="rect">
            <a:avLst/>
          </a:prstGeom>
          <a:solidFill>
            <a:srgbClr val="050505"/>
          </a:solidFill>
          <a:ln w="6350">
            <a:solidFill>
              <a:srgbClr val="3A3A3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093976" y="3429000"/>
            <a:ext cx="320040" cy="320040"/>
          </a:xfrm>
          <a:prstGeom prst="rect">
            <a:avLst/>
          </a:prstGeom>
          <a:solidFill>
            <a:srgbClr val="050505"/>
          </a:solidFill>
          <a:ln w="6350">
            <a:solidFill>
              <a:srgbClr val="3A3A3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261872" y="3749040"/>
            <a:ext cx="1152144" cy="576072"/>
          </a:xfrm>
          <a:prstGeom prst="rect">
            <a:avLst/>
          </a:prstGeom>
          <a:solidFill>
            <a:srgbClr val="050505"/>
          </a:solidFill>
          <a:ln w="6350">
            <a:solidFill>
              <a:srgbClr val="3A3A3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55548" y="161391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DARJ</a:t>
            </a:r>
            <a:endParaRPr lang="en-US" sz="600" dirty="0"/>
          </a:p>
        </p:txBody>
      </p:sp>
      <p:sp>
        <p:nvSpPr>
          <p:cNvPr id="25" name="Text 23"/>
          <p:cNvSpPr/>
          <p:nvPr/>
        </p:nvSpPr>
        <p:spPr>
          <a:xfrm>
            <a:off x="1083564" y="202996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N.BENGAL</a:t>
            </a:r>
            <a:endParaRPr lang="en-US" sz="600" dirty="0"/>
          </a:p>
        </p:txBody>
      </p:sp>
      <p:sp>
        <p:nvSpPr>
          <p:cNvPr id="26" name="Text 24"/>
          <p:cNvSpPr/>
          <p:nvPr/>
        </p:nvSpPr>
        <p:spPr>
          <a:xfrm>
            <a:off x="1083564" y="2542032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MALDA</a:t>
            </a:r>
            <a:endParaRPr lang="en-US" sz="600" dirty="0"/>
          </a:p>
        </p:txBody>
      </p:sp>
      <p:sp>
        <p:nvSpPr>
          <p:cNvPr id="27" name="Text 25"/>
          <p:cNvSpPr/>
          <p:nvPr/>
        </p:nvSpPr>
        <p:spPr>
          <a:xfrm>
            <a:off x="1403604" y="2862072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MURSHIDABAD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731520" y="305409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BURDWAN</a:t>
            </a:r>
            <a:endParaRPr lang="en-US" sz="600" dirty="0"/>
          </a:p>
        </p:txBody>
      </p:sp>
      <p:sp>
        <p:nvSpPr>
          <p:cNvPr id="29" name="Text 27"/>
          <p:cNvSpPr/>
          <p:nvPr/>
        </p:nvSpPr>
        <p:spPr>
          <a:xfrm>
            <a:off x="2075688" y="3086100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MATUA</a:t>
            </a:r>
            <a:endParaRPr lang="en-US" sz="600" dirty="0"/>
          </a:p>
        </p:txBody>
      </p:sp>
      <p:sp>
        <p:nvSpPr>
          <p:cNvPr id="30" name="Text 28"/>
          <p:cNvSpPr/>
          <p:nvPr/>
        </p:nvSpPr>
        <p:spPr>
          <a:xfrm>
            <a:off x="667512" y="3598164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JUNGLE MAHAL</a:t>
            </a:r>
            <a:endParaRPr lang="en-US" sz="600" dirty="0"/>
          </a:p>
        </p:txBody>
      </p:sp>
      <p:sp>
        <p:nvSpPr>
          <p:cNvPr id="31" name="Text 29"/>
          <p:cNvSpPr/>
          <p:nvPr/>
        </p:nvSpPr>
        <p:spPr>
          <a:xfrm>
            <a:off x="1467612" y="3278124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PRESIDENCY</a:t>
            </a:r>
            <a:endParaRPr lang="en-US" sz="600" dirty="0"/>
          </a:p>
        </p:txBody>
      </p:sp>
      <p:sp>
        <p:nvSpPr>
          <p:cNvPr id="32" name="Text 30"/>
          <p:cNvSpPr/>
          <p:nvPr/>
        </p:nvSpPr>
        <p:spPr>
          <a:xfrm>
            <a:off x="1979676" y="353415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KOL</a:t>
            </a:r>
            <a:endParaRPr lang="en-US" sz="600" dirty="0"/>
          </a:p>
        </p:txBody>
      </p:sp>
      <p:sp>
        <p:nvSpPr>
          <p:cNvPr id="33" name="Text 31"/>
          <p:cNvSpPr/>
          <p:nvPr/>
        </p:nvSpPr>
        <p:spPr>
          <a:xfrm>
            <a:off x="1563624" y="3982212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SOUTH RURAL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3749040" y="155448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PREDICTED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3749040" y="177393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TMC 78%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3749040" y="20116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BJP 12%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3749040" y="242316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ACTUAL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3749040" y="264261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TMC 52%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3749040" y="28803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BJP 38%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3749040" y="329184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SEATS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3749040" y="350215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Pred: TMC 19 · BJP 3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3749040" y="373075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Act:  TMC 13 · BJP 9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6583680" y="1554480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FACTOR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583680" y="18288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 — but barely.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6583680" y="2423160"/>
            <a:ext cx="2240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C7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Muslim consolidation worked here as modelled. The model was right about this cluster.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6583680" y="416052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 SEATS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505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22208" y="128016"/>
            <a:ext cx="329184" cy="329184"/>
          </a:xfrm>
          <a:prstGeom prst="ellipse">
            <a:avLst/>
          </a:prstGeom>
          <a:solidFill>
            <a:srgbClr val="050505"/>
          </a:solidFill>
          <a:ln w="19050">
            <a:solidFill>
              <a:srgbClr val="A8FF3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95360" y="201168"/>
            <a:ext cx="182880" cy="182880"/>
          </a:xfrm>
          <a:prstGeom prst="ellipse">
            <a:avLst/>
          </a:prstGeom>
          <a:solidFill>
            <a:srgbClr val="050505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50224" y="256032"/>
            <a:ext cx="73152" cy="73152"/>
          </a:xfrm>
          <a:prstGeom prst="ellipse">
            <a:avLst/>
          </a:prstGeom>
          <a:solidFill>
            <a:srgbClr val="A8FF3E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86460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Simulatte / Confidential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046720" y="486460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201168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ANALYSIS · 09 OF 10 · MALDA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Malda: TMC → BJP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457200" y="1298448"/>
            <a:ext cx="8229600" cy="0"/>
          </a:xfrm>
          <a:prstGeom prst="line">
            <a:avLst/>
          </a:prstGeom>
          <a:noFill/>
          <a:ln w="6350">
            <a:solidFill>
              <a:srgbClr val="9A999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41832" y="1508760"/>
            <a:ext cx="576072" cy="320040"/>
          </a:xfrm>
          <a:prstGeom prst="rect">
            <a:avLst/>
          </a:prstGeom>
          <a:solidFill>
            <a:srgbClr val="050505"/>
          </a:solidFill>
          <a:ln w="6350">
            <a:solidFill>
              <a:srgbClr val="3A3A3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77824" y="1828800"/>
            <a:ext cx="704088" cy="384048"/>
          </a:xfrm>
          <a:prstGeom prst="rect">
            <a:avLst/>
          </a:prstGeom>
          <a:solidFill>
            <a:srgbClr val="050505"/>
          </a:solidFill>
          <a:ln w="6350">
            <a:solidFill>
              <a:srgbClr val="3A3A3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69848" y="2212848"/>
            <a:ext cx="576072" cy="256032"/>
          </a:xfrm>
          <a:prstGeom prst="rect">
            <a:avLst/>
          </a:prstGeom>
          <a:solidFill>
            <a:srgbClr val="050505"/>
          </a:solidFill>
          <a:ln w="6350">
            <a:solidFill>
              <a:srgbClr val="3A3A3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69848" y="2468880"/>
            <a:ext cx="576072" cy="256032"/>
          </a:xfrm>
          <a:prstGeom prst="rect">
            <a:avLst/>
          </a:prstGeom>
          <a:solidFill>
            <a:srgbClr val="A8FF3E"/>
          </a:solidFill>
          <a:ln w="6350">
            <a:solidFill>
              <a:srgbClr val="A8FF3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325880" y="2724912"/>
            <a:ext cx="704088" cy="384048"/>
          </a:xfrm>
          <a:prstGeom prst="rect">
            <a:avLst/>
          </a:prstGeom>
          <a:solidFill>
            <a:srgbClr val="050505"/>
          </a:solidFill>
          <a:ln w="6350">
            <a:solidFill>
              <a:srgbClr val="3A3A3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85800" y="2852928"/>
            <a:ext cx="640080" cy="512064"/>
          </a:xfrm>
          <a:prstGeom prst="rect">
            <a:avLst/>
          </a:prstGeom>
          <a:solidFill>
            <a:srgbClr val="050505"/>
          </a:solidFill>
          <a:ln w="6350">
            <a:solidFill>
              <a:srgbClr val="3A3A3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49808" y="3364992"/>
            <a:ext cx="576072" cy="192024"/>
          </a:xfrm>
          <a:prstGeom prst="rect">
            <a:avLst/>
          </a:prstGeom>
          <a:solidFill>
            <a:srgbClr val="050505"/>
          </a:solidFill>
          <a:ln w="6350">
            <a:solidFill>
              <a:srgbClr val="3A3A3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029968" y="2852928"/>
            <a:ext cx="640080" cy="576072"/>
          </a:xfrm>
          <a:prstGeom prst="rect">
            <a:avLst/>
          </a:prstGeom>
          <a:solidFill>
            <a:srgbClr val="050505"/>
          </a:solidFill>
          <a:ln w="6350">
            <a:solidFill>
              <a:srgbClr val="3A3A3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93776" y="3364992"/>
            <a:ext cx="960120" cy="576072"/>
          </a:xfrm>
          <a:prstGeom prst="rect">
            <a:avLst/>
          </a:prstGeom>
          <a:solidFill>
            <a:srgbClr val="050505"/>
          </a:solidFill>
          <a:ln w="6350">
            <a:solidFill>
              <a:srgbClr val="3A3A3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85800" y="3941064"/>
            <a:ext cx="576072" cy="192024"/>
          </a:xfrm>
          <a:prstGeom prst="rect">
            <a:avLst/>
          </a:prstGeom>
          <a:solidFill>
            <a:srgbClr val="050505"/>
          </a:solidFill>
          <a:ln w="6350">
            <a:solidFill>
              <a:srgbClr val="3A3A3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453896" y="3108960"/>
            <a:ext cx="576072" cy="448056"/>
          </a:xfrm>
          <a:prstGeom prst="rect">
            <a:avLst/>
          </a:prstGeom>
          <a:solidFill>
            <a:srgbClr val="050505"/>
          </a:solidFill>
          <a:ln w="6350">
            <a:solidFill>
              <a:srgbClr val="3A3A3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645920" y="3557016"/>
            <a:ext cx="448056" cy="192024"/>
          </a:xfrm>
          <a:prstGeom prst="rect">
            <a:avLst/>
          </a:prstGeom>
          <a:solidFill>
            <a:srgbClr val="050505"/>
          </a:solidFill>
          <a:ln w="6350">
            <a:solidFill>
              <a:srgbClr val="3A3A3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093976" y="3429000"/>
            <a:ext cx="320040" cy="320040"/>
          </a:xfrm>
          <a:prstGeom prst="rect">
            <a:avLst/>
          </a:prstGeom>
          <a:solidFill>
            <a:srgbClr val="050505"/>
          </a:solidFill>
          <a:ln w="6350">
            <a:solidFill>
              <a:srgbClr val="3A3A3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261872" y="3749040"/>
            <a:ext cx="1152144" cy="576072"/>
          </a:xfrm>
          <a:prstGeom prst="rect">
            <a:avLst/>
          </a:prstGeom>
          <a:solidFill>
            <a:srgbClr val="050505"/>
          </a:solidFill>
          <a:ln w="6350">
            <a:solidFill>
              <a:srgbClr val="3A3A3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55548" y="161391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DARJ</a:t>
            </a:r>
            <a:endParaRPr lang="en-US" sz="600" dirty="0"/>
          </a:p>
        </p:txBody>
      </p:sp>
      <p:sp>
        <p:nvSpPr>
          <p:cNvPr id="25" name="Text 23"/>
          <p:cNvSpPr/>
          <p:nvPr/>
        </p:nvSpPr>
        <p:spPr>
          <a:xfrm>
            <a:off x="1083564" y="202996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N.BENGAL</a:t>
            </a:r>
            <a:endParaRPr lang="en-US" sz="600" dirty="0"/>
          </a:p>
        </p:txBody>
      </p:sp>
      <p:sp>
        <p:nvSpPr>
          <p:cNvPr id="26" name="Text 24"/>
          <p:cNvSpPr/>
          <p:nvPr/>
        </p:nvSpPr>
        <p:spPr>
          <a:xfrm>
            <a:off x="1083564" y="2542032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MALDA</a:t>
            </a:r>
            <a:endParaRPr lang="en-US" sz="600" dirty="0"/>
          </a:p>
        </p:txBody>
      </p:sp>
      <p:sp>
        <p:nvSpPr>
          <p:cNvPr id="27" name="Text 25"/>
          <p:cNvSpPr/>
          <p:nvPr/>
        </p:nvSpPr>
        <p:spPr>
          <a:xfrm>
            <a:off x="1403604" y="2862072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MURSHIDABAD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731520" y="305409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BURDWAN</a:t>
            </a:r>
            <a:endParaRPr lang="en-US" sz="600" dirty="0"/>
          </a:p>
        </p:txBody>
      </p:sp>
      <p:sp>
        <p:nvSpPr>
          <p:cNvPr id="29" name="Text 27"/>
          <p:cNvSpPr/>
          <p:nvPr/>
        </p:nvSpPr>
        <p:spPr>
          <a:xfrm>
            <a:off x="2075688" y="3086100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MATUA</a:t>
            </a:r>
            <a:endParaRPr lang="en-US" sz="600" dirty="0"/>
          </a:p>
        </p:txBody>
      </p:sp>
      <p:sp>
        <p:nvSpPr>
          <p:cNvPr id="30" name="Text 28"/>
          <p:cNvSpPr/>
          <p:nvPr/>
        </p:nvSpPr>
        <p:spPr>
          <a:xfrm>
            <a:off x="667512" y="3598164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JUNGLE MAHAL</a:t>
            </a:r>
            <a:endParaRPr lang="en-US" sz="600" dirty="0"/>
          </a:p>
        </p:txBody>
      </p:sp>
      <p:sp>
        <p:nvSpPr>
          <p:cNvPr id="31" name="Text 29"/>
          <p:cNvSpPr/>
          <p:nvPr/>
        </p:nvSpPr>
        <p:spPr>
          <a:xfrm>
            <a:off x="1467612" y="3278124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PRESIDENCY</a:t>
            </a:r>
            <a:endParaRPr lang="en-US" sz="600" dirty="0"/>
          </a:p>
        </p:txBody>
      </p:sp>
      <p:sp>
        <p:nvSpPr>
          <p:cNvPr id="32" name="Text 30"/>
          <p:cNvSpPr/>
          <p:nvPr/>
        </p:nvSpPr>
        <p:spPr>
          <a:xfrm>
            <a:off x="1979676" y="353415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KOL</a:t>
            </a:r>
            <a:endParaRPr lang="en-US" sz="600" dirty="0"/>
          </a:p>
        </p:txBody>
      </p:sp>
      <p:sp>
        <p:nvSpPr>
          <p:cNvPr id="33" name="Text 31"/>
          <p:cNvSpPr/>
          <p:nvPr/>
        </p:nvSpPr>
        <p:spPr>
          <a:xfrm>
            <a:off x="1563624" y="3982212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SOUTH RURAL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3749040" y="155448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PREDICTED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3749040" y="177393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TMC 56%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3749040" y="20116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BJP 30%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3749040" y="242316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ACTUAL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3749040" y="264261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TMC 38%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3749040" y="28803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BJP 48%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3749040" y="329184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SEATS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3749040" y="350215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Pred: TMC 7 · BJP 4 · INC 1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3749040" y="373075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Act:  BJP 7 · TMC 4 · INC 1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6583680" y="1554480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FACTOR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583680" y="18288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Muslim split + INC weakness.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6583680" y="2423160"/>
            <a:ext cx="2240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C7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AIMIM/AJUP fragmentation handed BJP pluralities.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6583680" y="416052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SEATS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505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22208" y="128016"/>
            <a:ext cx="329184" cy="329184"/>
          </a:xfrm>
          <a:prstGeom prst="ellipse">
            <a:avLst/>
          </a:prstGeom>
          <a:solidFill>
            <a:srgbClr val="050505"/>
          </a:solidFill>
          <a:ln w="19050">
            <a:solidFill>
              <a:srgbClr val="A8FF3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95360" y="201168"/>
            <a:ext cx="182880" cy="182880"/>
          </a:xfrm>
          <a:prstGeom prst="ellipse">
            <a:avLst/>
          </a:prstGeom>
          <a:solidFill>
            <a:srgbClr val="050505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50224" y="256032"/>
            <a:ext cx="73152" cy="73152"/>
          </a:xfrm>
          <a:prstGeom prst="ellipse">
            <a:avLst/>
          </a:prstGeom>
          <a:solidFill>
            <a:srgbClr val="A8FF3E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86460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Simulatte / Confidential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046720" y="486460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201168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ANALYSIS · 10 OF 10 · DARJEELING HILLS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Darjeeling Hills: BJP → BJP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457200" y="1298448"/>
            <a:ext cx="8229600" cy="0"/>
          </a:xfrm>
          <a:prstGeom prst="line">
            <a:avLst/>
          </a:prstGeom>
          <a:noFill/>
          <a:ln w="6350">
            <a:solidFill>
              <a:srgbClr val="9A999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41832" y="1508760"/>
            <a:ext cx="576072" cy="320040"/>
          </a:xfrm>
          <a:prstGeom prst="rect">
            <a:avLst/>
          </a:prstGeom>
          <a:solidFill>
            <a:srgbClr val="A8FF3E"/>
          </a:solidFill>
          <a:ln w="6350">
            <a:solidFill>
              <a:srgbClr val="A8FF3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77824" y="1828800"/>
            <a:ext cx="704088" cy="384048"/>
          </a:xfrm>
          <a:prstGeom prst="rect">
            <a:avLst/>
          </a:prstGeom>
          <a:solidFill>
            <a:srgbClr val="050505"/>
          </a:solidFill>
          <a:ln w="6350">
            <a:solidFill>
              <a:srgbClr val="3A3A3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69848" y="2212848"/>
            <a:ext cx="576072" cy="256032"/>
          </a:xfrm>
          <a:prstGeom prst="rect">
            <a:avLst/>
          </a:prstGeom>
          <a:solidFill>
            <a:srgbClr val="050505"/>
          </a:solidFill>
          <a:ln w="6350">
            <a:solidFill>
              <a:srgbClr val="3A3A3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69848" y="2468880"/>
            <a:ext cx="576072" cy="256032"/>
          </a:xfrm>
          <a:prstGeom prst="rect">
            <a:avLst/>
          </a:prstGeom>
          <a:solidFill>
            <a:srgbClr val="050505"/>
          </a:solidFill>
          <a:ln w="6350">
            <a:solidFill>
              <a:srgbClr val="3A3A3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325880" y="2724912"/>
            <a:ext cx="704088" cy="384048"/>
          </a:xfrm>
          <a:prstGeom prst="rect">
            <a:avLst/>
          </a:prstGeom>
          <a:solidFill>
            <a:srgbClr val="050505"/>
          </a:solidFill>
          <a:ln w="6350">
            <a:solidFill>
              <a:srgbClr val="3A3A3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85800" y="2852928"/>
            <a:ext cx="640080" cy="512064"/>
          </a:xfrm>
          <a:prstGeom prst="rect">
            <a:avLst/>
          </a:prstGeom>
          <a:solidFill>
            <a:srgbClr val="050505"/>
          </a:solidFill>
          <a:ln w="6350">
            <a:solidFill>
              <a:srgbClr val="3A3A3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49808" y="3364992"/>
            <a:ext cx="576072" cy="192024"/>
          </a:xfrm>
          <a:prstGeom prst="rect">
            <a:avLst/>
          </a:prstGeom>
          <a:solidFill>
            <a:srgbClr val="050505"/>
          </a:solidFill>
          <a:ln w="6350">
            <a:solidFill>
              <a:srgbClr val="3A3A3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029968" y="2852928"/>
            <a:ext cx="640080" cy="576072"/>
          </a:xfrm>
          <a:prstGeom prst="rect">
            <a:avLst/>
          </a:prstGeom>
          <a:solidFill>
            <a:srgbClr val="050505"/>
          </a:solidFill>
          <a:ln w="6350">
            <a:solidFill>
              <a:srgbClr val="3A3A3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93776" y="3364992"/>
            <a:ext cx="960120" cy="576072"/>
          </a:xfrm>
          <a:prstGeom prst="rect">
            <a:avLst/>
          </a:prstGeom>
          <a:solidFill>
            <a:srgbClr val="050505"/>
          </a:solidFill>
          <a:ln w="6350">
            <a:solidFill>
              <a:srgbClr val="3A3A3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85800" y="3941064"/>
            <a:ext cx="576072" cy="192024"/>
          </a:xfrm>
          <a:prstGeom prst="rect">
            <a:avLst/>
          </a:prstGeom>
          <a:solidFill>
            <a:srgbClr val="050505"/>
          </a:solidFill>
          <a:ln w="6350">
            <a:solidFill>
              <a:srgbClr val="3A3A3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453896" y="3108960"/>
            <a:ext cx="576072" cy="448056"/>
          </a:xfrm>
          <a:prstGeom prst="rect">
            <a:avLst/>
          </a:prstGeom>
          <a:solidFill>
            <a:srgbClr val="050505"/>
          </a:solidFill>
          <a:ln w="6350">
            <a:solidFill>
              <a:srgbClr val="3A3A3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645920" y="3557016"/>
            <a:ext cx="448056" cy="192024"/>
          </a:xfrm>
          <a:prstGeom prst="rect">
            <a:avLst/>
          </a:prstGeom>
          <a:solidFill>
            <a:srgbClr val="050505"/>
          </a:solidFill>
          <a:ln w="6350">
            <a:solidFill>
              <a:srgbClr val="3A3A3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093976" y="3429000"/>
            <a:ext cx="320040" cy="320040"/>
          </a:xfrm>
          <a:prstGeom prst="rect">
            <a:avLst/>
          </a:prstGeom>
          <a:solidFill>
            <a:srgbClr val="050505"/>
          </a:solidFill>
          <a:ln w="6350">
            <a:solidFill>
              <a:srgbClr val="3A3A3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261872" y="3749040"/>
            <a:ext cx="1152144" cy="576072"/>
          </a:xfrm>
          <a:prstGeom prst="rect">
            <a:avLst/>
          </a:prstGeom>
          <a:solidFill>
            <a:srgbClr val="050505"/>
          </a:solidFill>
          <a:ln w="6350">
            <a:solidFill>
              <a:srgbClr val="3A3A3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55548" y="161391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DARJ</a:t>
            </a:r>
            <a:endParaRPr lang="en-US" sz="600" dirty="0"/>
          </a:p>
        </p:txBody>
      </p:sp>
      <p:sp>
        <p:nvSpPr>
          <p:cNvPr id="25" name="Text 23"/>
          <p:cNvSpPr/>
          <p:nvPr/>
        </p:nvSpPr>
        <p:spPr>
          <a:xfrm>
            <a:off x="1083564" y="202996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N.BENGAL</a:t>
            </a:r>
            <a:endParaRPr lang="en-US" sz="600" dirty="0"/>
          </a:p>
        </p:txBody>
      </p:sp>
      <p:sp>
        <p:nvSpPr>
          <p:cNvPr id="26" name="Text 24"/>
          <p:cNvSpPr/>
          <p:nvPr/>
        </p:nvSpPr>
        <p:spPr>
          <a:xfrm>
            <a:off x="1083564" y="2542032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MALDA</a:t>
            </a:r>
            <a:endParaRPr lang="en-US" sz="600" dirty="0"/>
          </a:p>
        </p:txBody>
      </p:sp>
      <p:sp>
        <p:nvSpPr>
          <p:cNvPr id="27" name="Text 25"/>
          <p:cNvSpPr/>
          <p:nvPr/>
        </p:nvSpPr>
        <p:spPr>
          <a:xfrm>
            <a:off x="1403604" y="2862072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MURSHIDABAD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731520" y="305409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BURDWAN</a:t>
            </a:r>
            <a:endParaRPr lang="en-US" sz="600" dirty="0"/>
          </a:p>
        </p:txBody>
      </p:sp>
      <p:sp>
        <p:nvSpPr>
          <p:cNvPr id="29" name="Text 27"/>
          <p:cNvSpPr/>
          <p:nvPr/>
        </p:nvSpPr>
        <p:spPr>
          <a:xfrm>
            <a:off x="2075688" y="3086100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MATUA</a:t>
            </a:r>
            <a:endParaRPr lang="en-US" sz="600" dirty="0"/>
          </a:p>
        </p:txBody>
      </p:sp>
      <p:sp>
        <p:nvSpPr>
          <p:cNvPr id="30" name="Text 28"/>
          <p:cNvSpPr/>
          <p:nvPr/>
        </p:nvSpPr>
        <p:spPr>
          <a:xfrm>
            <a:off x="667512" y="3598164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JUNGLE MAHAL</a:t>
            </a:r>
            <a:endParaRPr lang="en-US" sz="600" dirty="0"/>
          </a:p>
        </p:txBody>
      </p:sp>
      <p:sp>
        <p:nvSpPr>
          <p:cNvPr id="31" name="Text 29"/>
          <p:cNvSpPr/>
          <p:nvPr/>
        </p:nvSpPr>
        <p:spPr>
          <a:xfrm>
            <a:off x="1467612" y="3278124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PRESIDENCY</a:t>
            </a:r>
            <a:endParaRPr lang="en-US" sz="600" dirty="0"/>
          </a:p>
        </p:txBody>
      </p:sp>
      <p:sp>
        <p:nvSpPr>
          <p:cNvPr id="32" name="Text 30"/>
          <p:cNvSpPr/>
          <p:nvPr/>
        </p:nvSpPr>
        <p:spPr>
          <a:xfrm>
            <a:off x="1979676" y="353415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KOL</a:t>
            </a:r>
            <a:endParaRPr lang="en-US" sz="600" dirty="0"/>
          </a:p>
        </p:txBody>
      </p:sp>
      <p:sp>
        <p:nvSpPr>
          <p:cNvPr id="33" name="Text 31"/>
          <p:cNvSpPr/>
          <p:nvPr/>
        </p:nvSpPr>
        <p:spPr>
          <a:xfrm>
            <a:off x="1563624" y="3982212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SOUTH RURAL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3749040" y="155448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PREDICTED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3749040" y="177393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TMC 22%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3749040" y="20116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BJP 50%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3749040" y="242316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ACTUAL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3749040" y="264261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TMC 20%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3749040" y="28803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BJP 60%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3749040" y="329184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SEATS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3749040" y="350215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Pred: BJP/GJM 10 · TMC 3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3749040" y="373075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Act:  BJP/GJM 10 · TMC 2 · Oth 1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6583680" y="1554480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FACTOR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583680" y="18288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Correctly predicted.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6583680" y="2423160"/>
            <a:ext cx="2240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C7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BJP/GJM alliance worked as modelled.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6583680" y="416052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SEATS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505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22208" y="128016"/>
            <a:ext cx="329184" cy="329184"/>
          </a:xfrm>
          <a:prstGeom prst="ellipse">
            <a:avLst/>
          </a:prstGeom>
          <a:solidFill>
            <a:srgbClr val="050505"/>
          </a:solidFill>
          <a:ln w="19050">
            <a:solidFill>
              <a:srgbClr val="A8FF3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95360" y="201168"/>
            <a:ext cx="182880" cy="182880"/>
          </a:xfrm>
          <a:prstGeom prst="ellipse">
            <a:avLst/>
          </a:prstGeom>
          <a:solidFill>
            <a:srgbClr val="050505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50224" y="256032"/>
            <a:ext cx="73152" cy="73152"/>
          </a:xfrm>
          <a:prstGeom prst="ellipse">
            <a:avLst/>
          </a:prstGeom>
          <a:solidFill>
            <a:srgbClr val="A8FF3E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86460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Simulatte / Confidential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046720" y="486460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201168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— STRUCTURAL FAILURE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566928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Three things to fix in the model.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57200" y="1298448"/>
            <a:ext cx="8229600" cy="0"/>
          </a:xfrm>
          <a:prstGeom prst="line">
            <a:avLst/>
          </a:prstGeom>
          <a:noFill/>
          <a:ln w="6350">
            <a:solidFill>
              <a:srgbClr val="9A999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155448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Anchoring on 2021 baseline.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14400" y="1920240"/>
            <a:ext cx="7680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C7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Uniform-swing assumed corrections of 10-20pp; realised swing was 25-30pp.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200" y="2560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2560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Hindu consolidation modelled as localized.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14400" y="2926080"/>
            <a:ext cx="7680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C7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shows it was the dominant statewide frame.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57200" y="3566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914400" y="356616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SIR weight too small.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914400" y="3931920"/>
            <a:ext cx="7680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C7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Modelled as marginal; reality showed structural turnout asymmetry across all Muslim-majority clusters.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505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8016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We'll be back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1031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for the next </a:t>
            </a:r>
            <a:pPr indent="0" marL="0">
              <a:buNone/>
            </a:pPr>
            <a:r>
              <a:rPr lang="en-US" sz="4000" b="1" dirty="0">
                <a:solidFill>
                  <a:srgbClr val="A8FF3E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nail-biter.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32461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INDIA · 28 STATES · EVERY ELECTION ITS OWN PHYSICS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65760" y="4498848"/>
            <a:ext cx="384048" cy="384048"/>
          </a:xfrm>
          <a:prstGeom prst="ellipse">
            <a:avLst/>
          </a:prstGeom>
          <a:solidFill>
            <a:srgbClr val="050505"/>
          </a:solidFill>
          <a:ln w="19050">
            <a:solidFill>
              <a:srgbClr val="A8FF3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48056" y="4581144"/>
            <a:ext cx="219456" cy="219456"/>
          </a:xfrm>
          <a:prstGeom prst="ellipse">
            <a:avLst/>
          </a:prstGeom>
          <a:solidFill>
            <a:srgbClr val="050505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12064" y="4645152"/>
            <a:ext cx="91440" cy="91440"/>
          </a:xfrm>
          <a:prstGeom prst="ellipse">
            <a:avLst/>
          </a:prstGeom>
          <a:solidFill>
            <a:srgbClr val="A8FF3E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4498848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Simulatte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WB 2026 Post-Mortem v2</dc:title>
  <dc:subject>PptxGenJS Presentation</dc:subject>
  <dc:creator>PptxGenJS</dc:creator>
  <cp:lastModifiedBy>PptxGenJS</cp:lastModifiedBy>
  <cp:revision>1</cp:revision>
  <dcterms:created xsi:type="dcterms:W3CDTF">2026-05-04T16:21:36Z</dcterms:created>
  <dcterms:modified xsi:type="dcterms:W3CDTF">2026-05-04T16:21:36Z</dcterms:modified>
</cp:coreProperties>
</file>