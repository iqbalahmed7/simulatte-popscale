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POST-MORTEM · WEST BENGAL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 staked </a:t>
            </a:r>
            <a:pPr indent="0" marL="0">
              <a:buNone/>
            </a:pPr>
            <a:r>
              <a:rPr lang="en-US" sz="4800" b="1" dirty="0">
                <a:solidFill>
                  <a:srgbClr val="A8FF3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TMC.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Bengal voted otherwise.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INFRASTRUCTURE · 4 MAY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498848"/>
            <a:ext cx="384048" cy="384048"/>
          </a:xfrm>
          <a:prstGeom prst="ellipse">
            <a:avLst/>
          </a:prstGeom>
          <a:solidFill>
            <a:srgbClr val="050505"/>
          </a:solidFill>
          <a:ln w="19050">
            <a:solidFill>
              <a:srgbClr val="A8F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4581144"/>
            <a:ext cx="219456" cy="219456"/>
          </a:xfrm>
          <a:prstGeom prst="ellipse">
            <a:avLst/>
          </a:prstGeom>
          <a:solidFill>
            <a:srgbClr val="050505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4645152"/>
            <a:ext cx="91440" cy="91440"/>
          </a:xfrm>
          <a:prstGeom prst="ellipse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Simulatte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2208" y="128016"/>
            <a:ext cx="329184" cy="329184"/>
          </a:xfrm>
          <a:prstGeom prst="ellipse">
            <a:avLst/>
          </a:prstGeom>
          <a:solidFill>
            <a:srgbClr val="050505"/>
          </a:solidFill>
          <a:ln w="19050">
            <a:solidFill>
              <a:srgbClr val="A8F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201168"/>
            <a:ext cx="182880" cy="182880"/>
          </a:xfrm>
          <a:prstGeom prst="ellipse">
            <a:avLst/>
          </a:prstGeom>
          <a:solidFill>
            <a:srgbClr val="050505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0224" y="256032"/>
            <a:ext cx="73152" cy="73152"/>
          </a:xfrm>
          <a:prstGeom prst="ellipse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Simulatte /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CALL VS THE RESULT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66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party landed outside the band.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6350">
            <a:solidFill>
              <a:srgbClr val="9A99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08760"/>
            <a:ext cx="1920240" cy="2103120"/>
          </a:xfrm>
          <a:prstGeom prst="rect">
            <a:avLst/>
          </a:prstGeom>
          <a:solidFill>
            <a:srgbClr val="050505"/>
          </a:solidFill>
          <a:ln w="9525">
            <a:solidFill>
              <a:srgbClr val="E9E6D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892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±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5877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99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−110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42032" y="1508760"/>
            <a:ext cx="1920240" cy="2103120"/>
          </a:xfrm>
          <a:prstGeom prst="rect">
            <a:avLst/>
          </a:prstGeom>
          <a:solidFill>
            <a:srgbClr val="050505"/>
          </a:solidFill>
          <a:ln w="9525">
            <a:solidFill>
              <a:srgbClr val="E9E6D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600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BJP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79192" y="1892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9192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± 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79192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9192" y="25877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203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679192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FF3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+158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26864" y="1508760"/>
            <a:ext cx="1920240" cy="2103120"/>
          </a:xfrm>
          <a:prstGeom prst="rect">
            <a:avLst/>
          </a:prstGeom>
          <a:solidFill>
            <a:srgbClr val="050505"/>
          </a:solidFill>
          <a:ln w="9525">
            <a:solidFill>
              <a:srgbClr val="E9E6D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600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+ CONG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4024" y="1892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64024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± 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64024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64024" y="25877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764024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99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−44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711696" y="1508760"/>
            <a:ext cx="1920240" cy="2103120"/>
          </a:xfrm>
          <a:prstGeom prst="rect">
            <a:avLst/>
          </a:prstGeom>
          <a:solidFill>
            <a:srgbClr val="050505"/>
          </a:solidFill>
          <a:ln w="9525">
            <a:solidFill>
              <a:srgbClr val="E9E6D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1600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48856" y="1892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48856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±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48856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48856" y="25877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6848856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99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720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BJP voteshare 45.1% (modelled ~22%)  ·  TMC 41.0% (modelled ~52%)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2208" y="128016"/>
            <a:ext cx="329184" cy="329184"/>
          </a:xfrm>
          <a:prstGeom prst="ellipse">
            <a:avLst/>
          </a:prstGeom>
          <a:solidFill>
            <a:srgbClr val="050505"/>
          </a:solidFill>
          <a:ln w="19050">
            <a:solidFill>
              <a:srgbClr val="A8F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201168"/>
            <a:ext cx="182880" cy="182880"/>
          </a:xfrm>
          <a:prstGeom prst="ellipse">
            <a:avLst/>
          </a:prstGeom>
          <a:solidFill>
            <a:srgbClr val="050505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0224" y="256032"/>
            <a:ext cx="73152" cy="73152"/>
          </a:xfrm>
          <a:prstGeom prst="ellipse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Simulatte /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PREDICTED VS ACTUAL  |  WEST BENGAL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We staked </a:t>
            </a:r>
            <a:pPr indent="0" marL="0">
              <a:buNone/>
            </a:pPr>
            <a:r>
              <a:rPr lang="en-US" sz="3200" b="1" dirty="0">
                <a:solidFill>
                  <a:srgbClr val="A8FF3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TMC.</a:t>
            </a:r>
            <a:pPr indent="0" marL="0">
              <a:buNone/>
            </a:pPr>
            <a:r>
              <a:rPr lang="en-US" sz="32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Bengal voted otherwise.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</a:t>
            </a:r>
            <a:endParaRPr lang="en-US" sz="1000" dirty="0"/>
          </a:p>
        </p:txBody>
      </p:sp>
      <p:pic>
        <p:nvPicPr>
          <p:cNvPr id="10" name="Image 0" descr="/Users/admin/Documents/Simulatte Projects/PopScale/engineering/maps/wb_predicted_per_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325880"/>
            <a:ext cx="3108960" cy="274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41605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TMC 194 · BJP 45 · INDI 50 · OTH 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3799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TMC majority by +47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5994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share: TMC 52% · BJP 22%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1097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endParaRPr lang="en-US" sz="1000" dirty="0"/>
          </a:p>
        </p:txBody>
      </p:sp>
      <p:pic>
        <p:nvPicPr>
          <p:cNvPr id="15" name="Image 1" descr="/Users/admin/Documents/Simulatte Projects/PopScale/engineering/maps/wb_actual_per_a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2080" y="1325880"/>
            <a:ext cx="3108960" cy="2743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41605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BJP 203 · TMC 84 · INDI 6 · OTH 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43799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BJP majority by +55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54880" y="45994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share: BJP 45.1% · TMC 41.0%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2208" y="128016"/>
            <a:ext cx="329184" cy="329184"/>
          </a:xfrm>
          <a:prstGeom prst="ellipse">
            <a:avLst/>
          </a:prstGeom>
          <a:solidFill>
            <a:srgbClr val="050505"/>
          </a:solidFill>
          <a:ln w="19050">
            <a:solidFill>
              <a:srgbClr val="A8F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201168"/>
            <a:ext cx="182880" cy="182880"/>
          </a:xfrm>
          <a:prstGeom prst="ellipse">
            <a:avLst/>
          </a:prstGeom>
          <a:solidFill>
            <a:srgbClr val="050505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0224" y="256032"/>
            <a:ext cx="73152" cy="73152"/>
          </a:xfrm>
          <a:prstGeom prst="ellipse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Simulatte /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WHERE THE SIMULATION FAILED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 simulation</a:t>
            </a:r>
            <a:pPr indent="0" marL="0">
              <a:buNone/>
            </a:pPr>
            <a:r>
              <a:rPr lang="en-US" sz="3600" b="1" dirty="0">
                <a:solidFill>
                  <a:srgbClr val="A8FF3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got wrong.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6350">
            <a:solidFill>
              <a:srgbClr val="9A9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16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3167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2021 baseline anchored every seat projection.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6276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over-weighted the 2021 anti-BJP correction. BJP's organisational depth and Hindu consolidation reversed that swing statewide — we had no prior encoding this.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CAA modelled as Matua backlash — it was Matua reward.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expected Matua grievance over delayed citizenship delivery. The community instead credited BJP for CAA passage; our voteshare prior for Nadia/N24Pgs was ~20pp off.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163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Muslim vote modelled as a unified TMC bloc.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127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fragmentation (AIMIM, AJUP, AISF, independents) in Kolkata, Malda and presidency seats handed BJP pluralities in seats we had TMC leading by 8–12pp.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Global voteshare prior: BJP ~22%, TMC ~52%.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8770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BJP 45.1%, TMC 41.0%. A ~20pp miss on BJP voteshare propagated through every cluster model. The prior came from 2021 assembly, not from 2024 Lok Sabha signals.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2208" y="128016"/>
            <a:ext cx="329184" cy="329184"/>
          </a:xfrm>
          <a:prstGeom prst="ellipse">
            <a:avLst/>
          </a:prstGeom>
          <a:solidFill>
            <a:srgbClr val="050505"/>
          </a:solidFill>
          <a:ln w="19050">
            <a:solidFill>
              <a:srgbClr val="A8F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201168"/>
            <a:ext cx="182880" cy="182880"/>
          </a:xfrm>
          <a:prstGeom prst="ellipse">
            <a:avLst/>
          </a:prstGeom>
          <a:solidFill>
            <a:srgbClr val="050505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0224" y="256032"/>
            <a:ext cx="73152" cy="73152"/>
          </a:xfrm>
          <a:prstGeom prst="ellipse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Simulatte /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STRUCTURAL LIMITS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no</a:t>
            </a:r>
            <a:pPr indent="0" marL="0">
              <a:buNone/>
            </a:pPr>
            <a:r>
              <a:rPr lang="en-US" sz="3600" b="1" dirty="0">
                <a:solidFill>
                  <a:srgbClr val="A8FF3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dataset</a:t>
            </a:r>
            <a:pPr indent="0" marL="0">
              <a:buNone/>
            </a:pPr>
            <a:r>
              <a:rPr lang="en-US" sz="36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could see.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6350">
            <a:solidFill>
              <a:srgbClr val="9A9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16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3167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Voter-roll revisions under SIR were not captured in our population data.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6276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deletions across multiple blocks in North Bengal and Murshidabad created a turnout asymmetry our population layer did not account for. No per-block attrition signal was available at modelling time.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Anti-incumbency depth was qualitative, not quantifiable.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Sandeshkhali incidents, teacher recruitment scam, post-2021 booth violence — each individually measurable, but the compounding effect on swing was not. No composite index existed.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163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mobilisation frame shifted from welfare delivery to political consolidation.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127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simulation's signal layer was built on scheme reach and beneficiary satisfaction. The dominant operative dynamic on election day was cross-community political consolidation — a frame welfare metrics cannot proxy.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BJP booth-level expansion was silent and unmeasured.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8770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Shakha density, worker count, mobilisation capacity — none are in any public dataset. The silent voter mobilisation differential vs 2021 was the largest single unmodelled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2208" y="128016"/>
            <a:ext cx="329184" cy="329184"/>
          </a:xfrm>
          <a:prstGeom prst="ellipse">
            <a:avLst/>
          </a:prstGeom>
          <a:solidFill>
            <a:srgbClr val="050505"/>
          </a:solidFill>
          <a:ln w="19050">
            <a:solidFill>
              <a:srgbClr val="A8F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201168"/>
            <a:ext cx="182880" cy="182880"/>
          </a:xfrm>
          <a:prstGeom prst="ellipse">
            <a:avLst/>
          </a:prstGeom>
          <a:solidFill>
            <a:srgbClr val="050505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0224" y="256032"/>
            <a:ext cx="73152" cy="73152"/>
          </a:xfrm>
          <a:prstGeom prst="ellipse">
            <a:avLst/>
          </a:prstGeom>
          <a:solidFill>
            <a:srgbClr val="A8FF3E"/>
          </a:solidFill>
          <a:ln w="12700">
            <a:solidFill>
              <a:srgbClr val="A8F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64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Simulatte /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9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CALIBRATION LOOP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</a:t>
            </a:r>
            <a:pPr indent="0" marL="0">
              <a:buNone/>
            </a:pPr>
            <a:r>
              <a:rPr lang="en-US" sz="3600" b="1" dirty="0">
                <a:solidFill>
                  <a:srgbClr val="A8FF3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changes</a:t>
            </a:r>
            <a:pPr indent="0" marL="0">
              <a:buNone/>
            </a:pPr>
            <a:r>
              <a:rPr lang="en-US" sz="36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next.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6350">
            <a:solidFill>
              <a:srgbClr val="9A9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16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3167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Re-weight priors toward Lok Sabha over assembly cycles.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6276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Bayesian prior will weight 2024 + 2019 Lok Sabha results at 60%, 2021 assembly at 40%. Assembly corrections now treated as transient, not structural.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SIR deletion rate as a structural population feature.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voter-roll attrition signal to the Niobe population layer — per-block deletion rate as a suppression proxy, especially in Muslim-majority geographies.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163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Anti-incumbency composite index.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127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scored index: scandal exposure × media intensity + violence incidents + service delivery gap score. Feed as a cluster-level adjustment on top of base voteshare.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F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6D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Replace uniform swing with cluster-bounded correction.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8770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treated independently with its own volatility ceiling. No statewide uniform-swing assumption. Cluster-level MAE from WB 2026 becomes the seed prior for the next study.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 2026 Post-Mortem</dc:title>
  <dc:subject>PptxGenJS Presentation</dc:subject>
  <dc:creator>PptxGenJS</dc:creator>
  <cp:lastModifiedBy>PptxGenJS</cp:lastModifiedBy>
  <cp:revision>1</cp:revision>
  <dcterms:created xsi:type="dcterms:W3CDTF">2026-05-04T17:58:07Z</dcterms:created>
  <dcterms:modified xsi:type="dcterms:W3CDTF">2026-05-04T17:58:07Z</dcterms:modified>
</cp:coreProperties>
</file>