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POST-MORTEM · WEST BENGAL 2026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4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Bengal voted otherwise.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INFRASTRUCTURE · 4 MAY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THE CALL VS THE RESULT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Every party landed outside the band.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± 10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594360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-110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42032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BJP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79192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79192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± 10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79192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679192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203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2679192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+158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626864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+ CONG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64024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64024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± 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64024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64024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764024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711696" y="1508760"/>
            <a:ext cx="1920240" cy="2103120"/>
          </a:xfrm>
          <a:prstGeom prst="rect">
            <a:avLst/>
          </a:prstGeom>
          <a:solidFill>
            <a:srgbClr val="050505"/>
          </a:solidFill>
          <a:ln w="9525">
            <a:solidFill>
              <a:srgbClr val="E9E6DF">
                <a:alpha val="2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1696" y="16002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848856" y="18928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8856" y="2075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± 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48856" y="24231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48856" y="25877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4400" dirty="0"/>
          </a:p>
        </p:txBody>
      </p:sp>
      <p:sp>
        <p:nvSpPr>
          <p:cNvPr id="37" name="Text 35"/>
          <p:cNvSpPr/>
          <p:nvPr/>
        </p:nvSpPr>
        <p:spPr>
          <a:xfrm>
            <a:off x="6848856" y="320040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9997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-4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57200" y="37307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voteshare 45.1% (modelled ~22%) · TMC 41.0% (modelled ~52%)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PREDICTED VS ACTUAL  |  WEST BENGAL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5029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 staked </a:t>
            </a:r>
            <a:pPr indent="0" marL="0">
              <a:buNone/>
            </a:pPr>
            <a:r>
              <a:rPr lang="en-US" sz="32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TMC.</a:t>
            </a:r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Bengal voted otherwise.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1097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1000" dirty="0"/>
          </a:p>
        </p:txBody>
      </p:sp>
      <p:pic>
        <p:nvPicPr>
          <p:cNvPr id="10" name="Image 0" descr="/Users/admin/Documents/Simulatte Projects/PopScale/engineering/maps/wb_predicted_per_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325880"/>
            <a:ext cx="3108960" cy="2743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65760" y="41605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194 · BJP 45 · INDI 50 · OTH 5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" y="437997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majority by +47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65760" y="45994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share: TMC 52% · BJP 22%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54880" y="1097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1000" dirty="0"/>
          </a:p>
        </p:txBody>
      </p:sp>
      <p:pic>
        <p:nvPicPr>
          <p:cNvPr id="15" name="Image 1" descr="/Users/admin/Documents/Simulatte Projects/PopScale/engineering/maps/wb_actual_per_a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12080" y="1325880"/>
            <a:ext cx="3108960" cy="2743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754880" y="41605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203 · TMC 84 · INDI 6 · OTH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754880" y="437997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majority by +55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754880" y="45994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share: BJP 45.1% · TMC 41.0%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01 OF 10 · MATUA BELT (NADIA · N24PGS)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Matua Belt (Nadia · N24Pgs):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atua_be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65%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30%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33 · TMC 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CAA swing.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Matua identification with BJP's CAA delivery, not the modelled backlash.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02 OF 10 · PRESIDENCY SUBURBS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Presidency Suburbs: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presidency_suburb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30 · TMC 10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BJP voteshare across heterogeneous suburbs.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SEATS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03 OF 10 · JUNGLE MAHAL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Jungle Mahal: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jungle_mah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32%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38 · BJP 12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38 · TMC 12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BJP organisation.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anti-BJP correction did not stick; rural welfare delivery held.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SEATS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04 OF 10 · SOUTH RURAL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South Rural: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south_ru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55%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32%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52%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25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26 · TMC 9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Anti-incumbency.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cases (Sandeshkhali, recruitment scam) cut deepest here.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SEATS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05 OF 10 · KOLKATA URBAN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Kolkata Urban: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kolkata_urb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50%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28%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22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20 · TMC 12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vote split.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fragmentation handed BJP pluralities in Muslim-mixed seats.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SEATS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06 OF 10 · BURDWAN INDUSTRIAL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Burdwan Industrial: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burdwan_industri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53%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35%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17 · BJP 8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18 · TMC 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worker swing.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anxiety + Hindu consolidation, not modelled together.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SEATS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07 OF 10 · NORTH BENGAL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North Bengal: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north_beng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48%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35%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28%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14 · BJP 10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22 · TMC 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voter-roll deletions.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 impact in Muslim-majority blocks; turnout asymmetry.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SEATS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08 OF 10 · MURSHIDABAD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Murshidabad: TMC → TMC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urshidab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78%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12%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52%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19 · BJP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TMC 13 · BJP 9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— but barely.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consolidation worked here as modelled. The model was right about this cluster.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SEATS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09 OF 10 · MALDA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Malda: TMC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mal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56%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30%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38%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48%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TMC 7 · BJP 4 · INC 1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 7 · TMC 4 · INC 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Muslim split + INC weakness.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AIMIM/AJUP fragmentation handed BJP pluralities.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SEATS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 · 10 OF 10 · DARJEELING HILLS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Darjeeling Hills: BJP → BJP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pic>
        <p:nvPicPr>
          <p:cNvPr id="10" name="Image 0" descr="/Users/admin/Documents/Simulatte Projects/PopScale/engineering/maps/wb_cluster_darjeeling_hil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3017520" cy="3108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749040" y="15544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22%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4904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50%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749040" y="24231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749040" y="26426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TMC 20%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749040" y="28803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 60%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749040" y="32918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749040" y="35021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Pred: BJP/GJM 10 · TMC 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49040" y="37307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 BJP/GJM 10 · TMC 2 · Oth 1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0" y="15544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FACTOR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583680" y="1828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predicted.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83680" y="2423160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BJP/GJM alliance worked as modelled.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SEATS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22208" y="128016"/>
            <a:ext cx="329184" cy="329184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201168"/>
            <a:ext cx="182880" cy="182880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0224" y="256032"/>
            <a:ext cx="73152" cy="73152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646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Simulatte / 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46720" y="4864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— STRUCTURAL FAILURE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5669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things to fix in the model.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1298448"/>
            <a:ext cx="8229600" cy="0"/>
          </a:xfrm>
          <a:prstGeom prst="line">
            <a:avLst/>
          </a:prstGeom>
          <a:noFill/>
          <a:ln w="6350">
            <a:solidFill>
              <a:srgbClr val="9A99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554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on 2021 baseline.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Uniform-swing assumed corrections of 10-20pp; realised swing was 25-30pp.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 consolidation modelled as localized.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260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shows it was the dominant statewide frame.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weight too small.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7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 as marginal; reality showed structural turnout asymmetry across all Muslim-majority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We'll be back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for the next </a:t>
            </a:r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nail-biter.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2461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99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INDIA · 28 STATES · EVERY ELECTION ITS OWN PHYSICS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4498848"/>
            <a:ext cx="384048" cy="384048"/>
          </a:xfrm>
          <a:prstGeom prst="ellipse">
            <a:avLst/>
          </a:prstGeom>
          <a:solidFill>
            <a:srgbClr val="050505"/>
          </a:solidFill>
          <a:ln w="19050">
            <a:solidFill>
              <a:srgbClr val="A8FF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8056" y="4581144"/>
            <a:ext cx="219456" cy="219456"/>
          </a:xfrm>
          <a:prstGeom prst="ellipse">
            <a:avLst/>
          </a:prstGeom>
          <a:solidFill>
            <a:srgbClr val="050505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4645152"/>
            <a:ext cx="91440" cy="91440"/>
          </a:xfrm>
          <a:prstGeom prst="ellipse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Simulatte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WB 2026 Post-Mortem v2</dc:title>
  <dc:subject>PptxGenJS Presentation</dc:subject>
  <dc:creator>PptxGenJS</dc:creator>
  <cp:lastModifiedBy>PptxGenJS</cp:lastModifiedBy>
  <cp:revision>1</cp:revision>
  <dcterms:created xsi:type="dcterms:W3CDTF">2026-05-04T17:37:33Z</dcterms:created>
  <dcterms:modified xsi:type="dcterms:W3CDTF">2026-05-04T17:37:33Z</dcterms:modified>
</cp:coreProperties>
</file>